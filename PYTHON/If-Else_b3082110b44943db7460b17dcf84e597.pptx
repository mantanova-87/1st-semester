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7" r:id="rId4"/>
    <p:sldId id="261" r:id="rId5"/>
    <p:sldId id="260" r:id="rId6"/>
    <p:sldId id="263" r:id="rId7"/>
    <p:sldId id="262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131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B12E27-8971-467B-B2C7-9343F633212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2E93A-F3B3-40D8-BF4E-BB8E14941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621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37905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2B9B1-0815-4FC2-BBB3-CC03978F10D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C575A-CDAE-47DF-8DCA-89727187A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264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2B9B1-0815-4FC2-BBB3-CC03978F10D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C575A-CDAE-47DF-8DCA-89727187A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621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2B9B1-0815-4FC2-BBB3-CC03978F10D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C575A-CDAE-47DF-8DCA-89727187A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37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2B9B1-0815-4FC2-BBB3-CC03978F10D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C575A-CDAE-47DF-8DCA-89727187A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968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2B9B1-0815-4FC2-BBB3-CC03978F10D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C575A-CDAE-47DF-8DCA-89727187A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44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2B9B1-0815-4FC2-BBB3-CC03978F10D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C575A-CDAE-47DF-8DCA-89727187A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47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2B9B1-0815-4FC2-BBB3-CC03978F10D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C575A-CDAE-47DF-8DCA-89727187A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26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2B9B1-0815-4FC2-BBB3-CC03978F10D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C575A-CDAE-47DF-8DCA-89727187A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83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2B9B1-0815-4FC2-BBB3-CC03978F10D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C575A-CDAE-47DF-8DCA-89727187A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738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2B9B1-0815-4FC2-BBB3-CC03978F10D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C575A-CDAE-47DF-8DCA-89727187A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99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2B9B1-0815-4FC2-BBB3-CC03978F10D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C575A-CDAE-47DF-8DCA-89727187A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40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2B9B1-0815-4FC2-BBB3-CC03978F10DB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C575A-CDAE-47DF-8DCA-89727187A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07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If-Else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183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7470" y="728389"/>
            <a:ext cx="6553768" cy="2644369"/>
          </a:xfrm>
          <a:prstGeom prst="rect">
            <a:avLst/>
          </a:prstGeom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506789" y="1325880"/>
            <a:ext cx="3548063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mtClean="0"/>
              <a:t>if </a:t>
            </a:r>
            <a:r>
              <a:rPr lang="en-US" altLang="en-US" i="1" smtClean="0"/>
              <a:t>condition</a:t>
            </a:r>
            <a:r>
              <a:rPr lang="en-US" altLang="en-US" smtClean="0"/>
              <a:t>:</a:t>
            </a:r>
          </a:p>
          <a:p>
            <a:pPr>
              <a:buFontTx/>
              <a:buNone/>
            </a:pPr>
            <a:r>
              <a:rPr lang="en-US" altLang="en-US" smtClean="0"/>
              <a:t>    </a:t>
            </a:r>
            <a:r>
              <a:rPr lang="en-US" altLang="en-US" i="1" smtClean="0"/>
              <a:t>statements</a:t>
            </a:r>
            <a:endParaRPr lang="en-US" altLang="en-US" smtClean="0"/>
          </a:p>
          <a:p>
            <a:pPr>
              <a:buFontTx/>
              <a:buNone/>
            </a:pPr>
            <a:r>
              <a:rPr lang="en-US" altLang="en-US" smtClean="0"/>
              <a:t>[elif </a:t>
            </a:r>
            <a:r>
              <a:rPr lang="en-US" altLang="en-US" i="1" smtClean="0"/>
              <a:t>condition</a:t>
            </a:r>
            <a:r>
              <a:rPr lang="en-US" altLang="en-US" smtClean="0"/>
              <a:t>:</a:t>
            </a:r>
          </a:p>
          <a:p>
            <a:pPr>
              <a:buFontTx/>
              <a:buNone/>
            </a:pPr>
            <a:r>
              <a:rPr lang="en-US" altLang="en-US" smtClean="0"/>
              <a:t>    </a:t>
            </a:r>
            <a:r>
              <a:rPr lang="en-US" altLang="en-US" i="1" smtClean="0"/>
              <a:t>statements</a:t>
            </a:r>
            <a:r>
              <a:rPr lang="en-US" altLang="en-US" smtClean="0"/>
              <a:t>] ...</a:t>
            </a:r>
          </a:p>
          <a:p>
            <a:pPr>
              <a:buFontTx/>
              <a:buNone/>
            </a:pPr>
            <a:r>
              <a:rPr lang="en-US" altLang="en-US" smtClean="0"/>
              <a:t>else:</a:t>
            </a:r>
          </a:p>
          <a:p>
            <a:pPr>
              <a:buFontTx/>
              <a:buNone/>
            </a:pPr>
            <a:r>
              <a:rPr lang="en-US" altLang="en-US" smtClean="0"/>
              <a:t>    </a:t>
            </a:r>
            <a:r>
              <a:rPr lang="en-US" altLang="en-US" i="1" smtClean="0"/>
              <a:t>statements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2927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f Else in Python | Syntax, FlowChart and Exampl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84"/>
          <a:stretch/>
        </p:blipFill>
        <p:spPr bwMode="auto">
          <a:xfrm>
            <a:off x="1827619" y="1177062"/>
            <a:ext cx="8172450" cy="4265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2962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Learning How to Use Conditionals in Python – 365 Data Scie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866" y="597705"/>
            <a:ext cx="6680654" cy="5101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0517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Conditional Statements in Python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524000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522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Working of if State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249" y="1304109"/>
            <a:ext cx="11430000" cy="492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314994" y="347300"/>
            <a:ext cx="9144000" cy="238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Working of If Statement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179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Python if, if...else Statement (With Examples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1449" y="827280"/>
            <a:ext cx="10468594" cy="5958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314994" y="347300"/>
            <a:ext cx="9144000" cy="238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Working of If-Else Statement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626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ffectLst>
                  <a:outerShdw blurRad="38100" dist="38100" dir="2700000" algn="tl">
                    <a:srgbClr val="000000"/>
                  </a:outerShdw>
                </a:effectLst>
                <a:ea typeface="ＭＳ Ｐゴシック" panose="020B0600070205080204" pitchFamily="34" charset="-128"/>
              </a:rPr>
              <a:t>Whitespace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295400"/>
            <a:ext cx="7924800" cy="53340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Whitespace is meaningful in Python: especially indentation and placement of newlines</a:t>
            </a:r>
          </a:p>
          <a:p>
            <a:pPr marL="0" indent="0"/>
            <a:endParaRPr lang="en-US" altLang="en-US" dirty="0" smtClean="0">
              <a:ea typeface="ＭＳ Ｐゴシック" panose="020B0600070205080204" pitchFamily="34" charset="-128"/>
            </a:endParaRPr>
          </a:p>
          <a:p>
            <a:pPr marL="0" indent="0"/>
            <a:r>
              <a:rPr lang="en-US" altLang="en-US" dirty="0" smtClean="0">
                <a:ea typeface="ＭＳ Ｐゴシック" panose="020B0600070205080204" pitchFamily="34" charset="-128"/>
              </a:rPr>
              <a:t>No </a:t>
            </a:r>
            <a:r>
              <a:rPr lang="en-US" altLang="en-US" dirty="0">
                <a:ea typeface="ＭＳ Ｐゴシック" panose="020B0600070205080204" pitchFamily="34" charset="-128"/>
              </a:rPr>
              <a:t>braces </a:t>
            </a:r>
            <a:r>
              <a:rPr lang="en-US" altLang="en-US" dirty="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{}</a:t>
            </a:r>
            <a:r>
              <a:rPr lang="en-US" altLang="en-US" dirty="0">
                <a:ea typeface="ＭＳ Ｐゴシック" panose="020B0600070205080204" pitchFamily="34" charset="-128"/>
              </a:rPr>
              <a:t> to mark blocks of code, use </a:t>
            </a:r>
            <a:r>
              <a:rPr lang="en-US" altLang="en-US" i="1" dirty="0">
                <a:ea typeface="ＭＳ Ｐゴシック" panose="020B0600070205080204" pitchFamily="34" charset="-128"/>
              </a:rPr>
              <a:t>consistent</a:t>
            </a:r>
            <a:r>
              <a:rPr lang="en-US" altLang="en-US" dirty="0">
                <a:ea typeface="ＭＳ Ｐゴシック" panose="020B0600070205080204" pitchFamily="34" charset="-128"/>
              </a:rPr>
              <a:t> indentation instead</a:t>
            </a:r>
          </a:p>
          <a:p>
            <a:pPr marL="636588" lvl="2" indent="-236538"/>
            <a:r>
              <a:rPr lang="en-US" altLang="en-US" dirty="0" smtClean="0">
                <a:ea typeface="ＭＳ Ｐゴシック" panose="020B0600070205080204" pitchFamily="34" charset="-128"/>
              </a:rPr>
              <a:t>First line with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less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indentation is outside of the block</a:t>
            </a:r>
          </a:p>
          <a:p>
            <a:pPr marL="636588" lvl="2" indent="-236538"/>
            <a:r>
              <a:rPr lang="en-US" altLang="en-US" dirty="0" smtClean="0">
                <a:ea typeface="ＭＳ Ｐゴシック" panose="020B0600070205080204" pitchFamily="34" charset="-128"/>
              </a:rPr>
              <a:t>First line with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more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indentation starts a nested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block</a:t>
            </a:r>
          </a:p>
          <a:p>
            <a:pPr marL="636588" lvl="2" indent="-236538"/>
            <a:endParaRPr lang="en-US" altLang="en-US" dirty="0" smtClean="0">
              <a:ea typeface="ＭＳ Ｐゴシック" panose="020B0600070205080204" pitchFamily="34" charset="-128"/>
            </a:endParaRPr>
          </a:p>
          <a:p>
            <a:pPr marL="0" indent="0"/>
            <a:r>
              <a:rPr lang="en-US" altLang="en-US" dirty="0">
                <a:ea typeface="ＭＳ Ｐゴシック" panose="020B0600070205080204" pitchFamily="34" charset="-128"/>
              </a:rPr>
              <a:t>Colons start of a new block in many constructs, e.g. function definitions, then clauses</a:t>
            </a:r>
          </a:p>
        </p:txBody>
      </p:sp>
    </p:spTree>
    <p:extLst>
      <p:ext uri="{BB962C8B-B14F-4D97-AF65-F5344CB8AC3E}">
        <p14:creationId xmlns:p14="http://schemas.microsoft.com/office/powerpoint/2010/main" val="134024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88</Words>
  <Application>Microsoft Office PowerPoint</Application>
  <PresentationFormat>Widescreen</PresentationFormat>
  <Paragraphs>17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ＭＳ Ｐゴシック</vt:lpstr>
      <vt:lpstr>Arial</vt:lpstr>
      <vt:lpstr>Calibri</vt:lpstr>
      <vt:lpstr>Calibri Light</vt:lpstr>
      <vt:lpstr>Lucida Sans Typewriter</vt:lpstr>
      <vt:lpstr>Times New Roman</vt:lpstr>
      <vt:lpstr>Office Theme</vt:lpstr>
      <vt:lpstr>If-Else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Whitespace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If-Else</dc:title>
  <dc:creator>Microsoft account</dc:creator>
  <cp:lastModifiedBy>Microsoft account</cp:lastModifiedBy>
  <cp:revision>4</cp:revision>
  <dcterms:created xsi:type="dcterms:W3CDTF">2025-09-16T08:58:52Z</dcterms:created>
  <dcterms:modified xsi:type="dcterms:W3CDTF">2025-09-16T09:05:30Z</dcterms:modified>
</cp:coreProperties>
</file>