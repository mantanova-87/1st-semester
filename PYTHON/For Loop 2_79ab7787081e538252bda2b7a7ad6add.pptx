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7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8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1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06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7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5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60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4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4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54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4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3AEC8-E662-46B4-B409-54F30B92381A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F902F-CD6D-4BA0-A4B7-A754839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0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keyword_for.asp" TargetMode="External"/><Relationship Id="rId2" Type="http://schemas.openxmlformats.org/officeDocument/2006/relationships/hyperlink" Target="https://www.w3schools.com/python/ref_keyword_else.asp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w3schools.com/python/ref_keyword_break.asp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Loops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94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630358" y="64047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u="none" strike="noStrike" baseline="0" dirty="0" smtClean="0">
                <a:latin typeface="LMRoman12-Bold-Identity-H"/>
              </a:rPr>
              <a:t>For loop with string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715589" y="180909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st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0" i="0" u="none" strike="noStrike" baseline="0" dirty="0" smtClean="0">
                <a:solidFill>
                  <a:srgbClr val="666666"/>
                </a:solidFill>
                <a:latin typeface="LMMono10-Regular-Identity-H"/>
              </a:rPr>
              <a:t>= </a:t>
            </a:r>
            <a:r>
              <a:rPr lang="en-US" b="0" i="0" u="none" strike="noStrike" baseline="0" dirty="0" smtClean="0">
                <a:solidFill>
                  <a:srgbClr val="BB2121"/>
                </a:solidFill>
                <a:latin typeface="LMMono10-Regular-Identity-H"/>
              </a:rPr>
              <a:t>'Python’</a:t>
            </a:r>
          </a:p>
          <a:p>
            <a:endParaRPr lang="en-US" b="0" i="0" u="none" strike="noStrike" baseline="0" dirty="0" smtClean="0">
              <a:solidFill>
                <a:srgbClr val="BB2121"/>
              </a:solidFill>
              <a:latin typeface="LMMono10-Regular-Identity-H"/>
            </a:endParaRPr>
          </a:p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dirty="0" err="1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st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:</a:t>
            </a:r>
          </a:p>
          <a:p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	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print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96297" y="236309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range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err="1" smtClean="0">
                <a:solidFill>
                  <a:srgbClr val="008000"/>
                </a:solidFill>
                <a:latin typeface="LMMono10-Regular-Identity-H"/>
              </a:rPr>
              <a:t>len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st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)):</a:t>
            </a:r>
          </a:p>
          <a:p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	print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st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[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])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223657" y="459500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“Python"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14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539" y="971397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u="none" strike="noStrike" baseline="0" dirty="0" smtClean="0">
                <a:latin typeface="LMRoman12-Bold-Identity-H"/>
              </a:rPr>
              <a:t>Break and Continue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88869" y="1477333"/>
            <a:ext cx="10302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With the </a:t>
            </a:r>
            <a:r>
              <a:rPr lang="en-US" b="0" i="0" dirty="0" smtClean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statement we can stop the loop before it has looped through all the items: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15589" y="278445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st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0" i="0" u="none" strike="noStrike" baseline="0" dirty="0" smtClean="0">
                <a:solidFill>
                  <a:srgbClr val="666666"/>
                </a:solidFill>
                <a:latin typeface="LMMono10-Regular-Identity-H"/>
              </a:rPr>
              <a:t>= </a:t>
            </a:r>
            <a:r>
              <a:rPr lang="en-US" b="0" i="0" u="none" strike="noStrike" baseline="0" dirty="0" smtClean="0">
                <a:solidFill>
                  <a:srgbClr val="BB2121"/>
                </a:solidFill>
                <a:latin typeface="LMMono10-Regular-Identity-H"/>
              </a:rPr>
              <a:t>'Python’</a:t>
            </a:r>
          </a:p>
          <a:p>
            <a:endParaRPr lang="en-US" b="0" i="0" u="none" strike="noStrike" baseline="0" dirty="0" smtClean="0">
              <a:solidFill>
                <a:srgbClr val="BB2121"/>
              </a:solidFill>
              <a:latin typeface="LMMono10-Regular-Identity-H"/>
            </a:endParaRPr>
          </a:p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dirty="0" err="1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st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:</a:t>
            </a:r>
          </a:p>
          <a:p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	print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if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== ‘t’: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 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     break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16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7611" y="1364121"/>
            <a:ext cx="109118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With the </a:t>
            </a:r>
            <a:r>
              <a:rPr lang="en-US" b="0" i="0" dirty="0" smtClean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statement we can stop the current iteration of the loop, and continue with the next: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27611" y="875603"/>
            <a:ext cx="1184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u="sng" strike="noStrike" baseline="0" dirty="0" smtClean="0">
                <a:latin typeface="LMRoman12-Bold-Identity-H"/>
              </a:rPr>
              <a:t>Continue</a:t>
            </a:r>
            <a:endParaRPr lang="en-US" u="sng" dirty="0"/>
          </a:p>
        </p:txBody>
      </p:sp>
      <p:sp>
        <p:nvSpPr>
          <p:cNvPr id="4" name="Rectangle 3"/>
          <p:cNvSpPr/>
          <p:nvPr/>
        </p:nvSpPr>
        <p:spPr>
          <a:xfrm>
            <a:off x="1715589" y="278445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st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0" i="0" u="none" strike="noStrike" baseline="0" dirty="0" smtClean="0">
                <a:solidFill>
                  <a:srgbClr val="666666"/>
                </a:solidFill>
                <a:latin typeface="LMMono10-Regular-Identity-H"/>
              </a:rPr>
              <a:t>= </a:t>
            </a:r>
            <a:r>
              <a:rPr lang="en-US" b="0" i="0" u="none" strike="noStrike" baseline="0" dirty="0" smtClean="0">
                <a:solidFill>
                  <a:srgbClr val="BB2121"/>
                </a:solidFill>
                <a:latin typeface="LMMono10-Regular-Identity-H"/>
              </a:rPr>
              <a:t>'Python’</a:t>
            </a:r>
          </a:p>
          <a:p>
            <a:endParaRPr lang="en-US" b="0" i="0" u="none" strike="noStrike" baseline="0" dirty="0" smtClean="0">
              <a:solidFill>
                <a:srgbClr val="BB2121"/>
              </a:solidFill>
              <a:latin typeface="LMMono10-Regular-Identity-H"/>
            </a:endParaRPr>
          </a:p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dirty="0" err="1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st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:</a:t>
            </a:r>
          </a:p>
          <a:p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	print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if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== ‘t’: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 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     continue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8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7805" y="2008555"/>
            <a:ext cx="40320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dirty="0" err="1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range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(0,</a:t>
            </a:r>
            <a:r>
              <a:rPr lang="en-US" b="0" i="0" u="none" strike="noStrike" baseline="0" dirty="0" smtClean="0">
                <a:solidFill>
                  <a:srgbClr val="666666"/>
                </a:solidFill>
                <a:latin typeface="LMMono10-Regular-Identity-H"/>
              </a:rPr>
              <a:t>11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):</a:t>
            </a:r>
          </a:p>
          <a:p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	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print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</a:t>
            </a:r>
            <a:endParaRPr lang="en-US" b="0" i="0" u="none" strike="noStrike" baseline="0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endParaRPr lang="en-US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if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== 4: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 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     continue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097485" y="2008555"/>
            <a:ext cx="40320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dirty="0" err="1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range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(0,</a:t>
            </a:r>
            <a:r>
              <a:rPr lang="en-US" b="0" i="0" u="none" strike="noStrike" baseline="0" dirty="0" smtClean="0">
                <a:solidFill>
                  <a:srgbClr val="666666"/>
                </a:solidFill>
                <a:latin typeface="LMMono10-Regular-Identity-H"/>
              </a:rPr>
              <a:t>11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):</a:t>
            </a:r>
          </a:p>
          <a:p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	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print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</a:t>
            </a:r>
            <a:endParaRPr lang="en-US" b="0" i="0" u="none" strike="noStrike" baseline="0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endParaRPr lang="en-US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if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== 4: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 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     break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55784" y="797226"/>
            <a:ext cx="10230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Output:</a:t>
            </a:r>
          </a:p>
          <a:p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1667691" y="4407766"/>
            <a:ext cx="403206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dirty="0" err="1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range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(0,</a:t>
            </a:r>
            <a:r>
              <a:rPr lang="en-US" b="0" i="0" u="none" strike="noStrike" baseline="0" dirty="0" smtClean="0">
                <a:solidFill>
                  <a:srgbClr val="666666"/>
                </a:solidFill>
                <a:latin typeface="LMMono10-Regular-Identity-H"/>
              </a:rPr>
              <a:t>11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):</a:t>
            </a:r>
          </a:p>
          <a:p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	</a:t>
            </a:r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endParaRPr lang="en-US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if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== 4: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 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     continue </a:t>
            </a:r>
            <a:endParaRPr lang="en-US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endParaRPr lang="en-US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r>
              <a:rPr lang="en-US" dirty="0" smtClean="0">
                <a:solidFill>
                  <a:srgbClr val="008000"/>
                </a:solidFill>
                <a:latin typeface="LMMono10-Regular-Identity-H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dirty="0">
                <a:solidFill>
                  <a:srgbClr val="000000"/>
                </a:solidFill>
                <a:latin typeface="LMMono10-Regular-Identity-H"/>
              </a:rPr>
              <a:t>)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014753" y="4407766"/>
            <a:ext cx="403206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dirty="0" err="1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range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(0,</a:t>
            </a:r>
            <a:r>
              <a:rPr lang="en-US" b="0" i="0" u="none" strike="noStrike" baseline="0" dirty="0" smtClean="0">
                <a:solidFill>
                  <a:srgbClr val="666666"/>
                </a:solidFill>
                <a:latin typeface="LMMono10-Regular-Identity-H"/>
              </a:rPr>
              <a:t>11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):</a:t>
            </a:r>
          </a:p>
          <a:p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	</a:t>
            </a:r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endParaRPr lang="en-US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if </a:t>
            </a:r>
            <a:r>
              <a:rPr lang="en-US" dirty="0" err="1" smtClean="0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== 4: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 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     </a:t>
            </a:r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break</a:t>
            </a: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endParaRPr lang="en-US" dirty="0" smtClean="0">
              <a:solidFill>
                <a:srgbClr val="000000"/>
              </a:solidFill>
              <a:latin typeface="LMMono10-Regular-Identity-H"/>
            </a:endParaRPr>
          </a:p>
          <a:p>
            <a:r>
              <a:rPr lang="en-US" dirty="0">
                <a:solidFill>
                  <a:srgbClr val="000000"/>
                </a:solidFill>
                <a:latin typeface="LMMono10-Regular-Identity-H"/>
              </a:rPr>
              <a:t>	</a:t>
            </a:r>
            <a:r>
              <a:rPr lang="en-US" dirty="0">
                <a:solidFill>
                  <a:srgbClr val="008000"/>
                </a:solidFill>
                <a:latin typeface="LMMono10-Regular-Identity-H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LMMono10-Regular-Identity-H"/>
              </a:rPr>
              <a:t>i</a:t>
            </a:r>
            <a:r>
              <a:rPr lang="en-US" dirty="0">
                <a:solidFill>
                  <a:srgbClr val="000000"/>
                </a:solidFill>
                <a:latin typeface="LMMono10-Regular-Identity-H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latin typeface="LMMono10-Regular-Identity-H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56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72352" y="579512"/>
            <a:ext cx="1653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For-Else Loop</a:t>
            </a:r>
            <a:endParaRPr lang="en-US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80159" y="1094156"/>
            <a:ext cx="115388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else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keyword in a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3"/>
              </a:rPr>
              <a:t>for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 specifies a block of code to be executed when the loop is finished: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55817" y="269820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"Finally finished!"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419497" y="5213309"/>
            <a:ext cx="111208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Note: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The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2"/>
              </a:rPr>
              <a:t>else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block will NOT be executed if the loop is stopped by a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  <a:hlinkClick r:id="rId4"/>
              </a:rPr>
              <a:t>break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statement.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46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69033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x == </a:t>
            </a:r>
            <a:r>
              <a:rPr lang="en-US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smtClean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"Finally finished!"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255784" y="797226"/>
            <a:ext cx="10230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Output: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3326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79401" y="710139"/>
            <a:ext cx="2294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pass Statement</a:t>
            </a:r>
            <a:endParaRPr lang="en-US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31400" y="1330123"/>
            <a:ext cx="102858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loops cannot be empty, but if you for some reason have a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loop with no content, put in the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pass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statement to avoid getting an error.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for 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number </a:t>
            </a:r>
            <a:r>
              <a:rPr lang="en-US" b="1" i="0" u="none" strike="noStrike" baseline="0" dirty="0" smtClean="0">
                <a:solidFill>
                  <a:srgbClr val="AC21FF"/>
                </a:solidFill>
                <a:latin typeface="LMMonoLt10-Bold-Identity-H"/>
              </a:rPr>
              <a:t>in </a:t>
            </a:r>
            <a:r>
              <a:rPr lang="en-US" b="0" i="0" u="none" strike="noStrike" baseline="0" dirty="0" smtClean="0">
                <a:solidFill>
                  <a:srgbClr val="008000"/>
                </a:solidFill>
                <a:latin typeface="LMMono10-Regular-Identity-H"/>
              </a:rPr>
              <a:t>range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(</a:t>
            </a:r>
            <a:r>
              <a:rPr lang="en-US" b="0" i="0" u="none" strike="noStrike" baseline="0" dirty="0" smtClean="0">
                <a:solidFill>
                  <a:srgbClr val="666666"/>
                </a:solidFill>
                <a:latin typeface="LMMono10-Regular-Identity-H"/>
              </a:rPr>
              <a:t>6</a:t>
            </a:r>
            <a:r>
              <a:rPr lang="en-US" b="0" i="0" u="none" strike="noStrike" baseline="0" dirty="0" smtClean="0">
                <a:solidFill>
                  <a:srgbClr val="000000"/>
                </a:solidFill>
                <a:latin typeface="LMMono10-Regular-Identity-H"/>
              </a:rPr>
              <a:t>):</a:t>
            </a:r>
          </a:p>
          <a:p>
            <a:r>
              <a:rPr lang="en-US" b="1" i="0" u="none" strike="noStrike" baseline="0" dirty="0" smtClean="0">
                <a:solidFill>
                  <a:srgbClr val="008000"/>
                </a:solidFill>
                <a:latin typeface="LMMonoLt10-Bold-Identity-H"/>
              </a:rPr>
              <a:t>	pass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024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0473" y="440174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u="none" strike="noStrike" baseline="0" dirty="0" smtClean="0">
                <a:latin typeface="LMRoman10-Bold-Identity-H"/>
              </a:rPr>
              <a:t>while loop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689464" y="1094155"/>
            <a:ext cx="89959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With the </a:t>
            </a:r>
            <a:r>
              <a:rPr lang="en-US" b="0" i="0" dirty="0" smtClean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loop we can execute a set of statements as long as a condition is true.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04160" y="225842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= </a:t>
            </a:r>
            <a:r>
              <a:rPr lang="nn-NO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 &lt; </a:t>
            </a:r>
            <a:r>
              <a:rPr lang="nn-NO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nn-NO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(i)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i += </a:t>
            </a:r>
            <a:r>
              <a:rPr lang="nn-NO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0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4160" y="225842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= </a:t>
            </a:r>
            <a:r>
              <a:rPr lang="nn-NO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 &lt; </a:t>
            </a:r>
            <a:r>
              <a:rPr lang="nn-NO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nn-NO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(i)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64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4160" y="225842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= </a:t>
            </a:r>
            <a:r>
              <a:rPr lang="nn-NO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 &lt; </a:t>
            </a:r>
            <a:r>
              <a:rPr lang="nn-NO" b="0" i="0" dirty="0" smtClean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nn-NO" b="0" i="0" dirty="0" smtClean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(i)</a:t>
            </a:r>
            <a:r>
              <a:rPr lang="nn-NO" dirty="0" smtClean="0"/>
              <a:t/>
            </a:r>
            <a:br>
              <a:rPr lang="nn-NO" dirty="0" smtClean="0"/>
            </a:br>
            <a:r>
              <a:rPr lang="nn-NO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642473" y="5561652"/>
            <a:ext cx="98615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Note: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remember to increment or decrement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or else the loop will continue forever.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28173" y="805935"/>
            <a:ext cx="10230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Output: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691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5839" y="1206529"/>
            <a:ext cx="4685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u="none" strike="noStrike" baseline="0" dirty="0" smtClean="0">
                <a:latin typeface="LMRoman12-Bold-Identity-H"/>
              </a:rPr>
              <a:t>Use nested loops to create the following: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1" u="none" strike="noStrike" baseline="0" dirty="0" smtClean="0">
                <a:solidFill>
                  <a:srgbClr val="3D7B7B"/>
                </a:solidFill>
                <a:latin typeface="LMMono10-Italic-Identity-H"/>
              </a:rPr>
              <a:t># # # # # # # #</a:t>
            </a:r>
          </a:p>
          <a:p>
            <a:r>
              <a:rPr lang="en-US" b="0" i="1" u="none" strike="noStrike" baseline="0" dirty="0" smtClean="0">
                <a:solidFill>
                  <a:srgbClr val="3D7B7B"/>
                </a:solidFill>
                <a:latin typeface="LMMono10-Italic-Identity-H"/>
              </a:rPr>
              <a:t># # # # # # # #</a:t>
            </a:r>
          </a:p>
          <a:p>
            <a:r>
              <a:rPr lang="en-US" b="0" i="1" u="none" strike="noStrike" baseline="0" dirty="0" smtClean="0">
                <a:solidFill>
                  <a:srgbClr val="3D7B7B"/>
                </a:solidFill>
                <a:latin typeface="LMMono10-Italic-Identity-H"/>
              </a:rPr>
              <a:t># # # # # # # #</a:t>
            </a:r>
          </a:p>
          <a:p>
            <a:r>
              <a:rPr lang="en-US" b="0" i="1" u="none" strike="noStrike" baseline="0" dirty="0" smtClean="0">
                <a:solidFill>
                  <a:srgbClr val="3D7B7B"/>
                </a:solidFill>
                <a:latin typeface="LMMono10-Italic-Identity-H"/>
              </a:rPr>
              <a:t># # # # # # # #</a:t>
            </a:r>
          </a:p>
          <a:p>
            <a:r>
              <a:rPr lang="en-US" b="0" i="1" u="none" strike="noStrike" baseline="0" dirty="0" smtClean="0">
                <a:solidFill>
                  <a:srgbClr val="3D7B7B"/>
                </a:solidFill>
                <a:latin typeface="LMMono10-Italic-Identity-H"/>
              </a:rPr>
              <a:t># # # # # # # #</a:t>
            </a:r>
          </a:p>
          <a:p>
            <a:r>
              <a:rPr lang="en-US" b="0" i="1" u="none" strike="noStrike" baseline="0" dirty="0" smtClean="0">
                <a:solidFill>
                  <a:srgbClr val="3D7B7B"/>
                </a:solidFill>
                <a:latin typeface="LMMono10-Italic-Identity-H"/>
              </a:rPr>
              <a:t># # # # # # # #</a:t>
            </a:r>
          </a:p>
          <a:p>
            <a:r>
              <a:rPr lang="en-US" b="0" i="1" u="none" strike="noStrike" baseline="0" dirty="0" smtClean="0">
                <a:solidFill>
                  <a:srgbClr val="3D7B7B"/>
                </a:solidFill>
                <a:latin typeface="LMMono10-Italic-Identity-H"/>
              </a:rPr>
              <a:t># # # # # # # #</a:t>
            </a:r>
          </a:p>
          <a:p>
            <a:r>
              <a:rPr lang="en-US" b="0" i="1" u="none" strike="noStrike" baseline="0" dirty="0" smtClean="0">
                <a:solidFill>
                  <a:srgbClr val="3D7B7B"/>
                </a:solidFill>
                <a:latin typeface="LMMono10-Italic-Identity-H"/>
              </a:rPr>
              <a:t># # # # # # # 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94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173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LMMono10-Italic-Identity-H</vt:lpstr>
      <vt:lpstr>LMMono10-Regular-Identity-H</vt:lpstr>
      <vt:lpstr>LMMonoLt10-Bold-Identity-H</vt:lpstr>
      <vt:lpstr>LMRoman10-Bold-Identity-H</vt:lpstr>
      <vt:lpstr>LMRoman12-Bold-Identity-H</vt:lpstr>
      <vt:lpstr>Segoe UI</vt:lpstr>
      <vt:lpstr>Office Theme</vt:lpstr>
      <vt:lpstr> 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 Loop</dc:title>
  <dc:creator>Microsoft account</dc:creator>
  <cp:lastModifiedBy>Microsoft account</cp:lastModifiedBy>
  <cp:revision>6</cp:revision>
  <dcterms:created xsi:type="dcterms:W3CDTF">2025-09-30T09:27:58Z</dcterms:created>
  <dcterms:modified xsi:type="dcterms:W3CDTF">2025-10-01T07:04:16Z</dcterms:modified>
</cp:coreProperties>
</file>