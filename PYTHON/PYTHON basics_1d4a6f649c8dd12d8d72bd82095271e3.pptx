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73" r:id="rId2"/>
    <p:sldId id="298" r:id="rId3"/>
    <p:sldId id="299" r:id="rId4"/>
    <p:sldId id="300" r:id="rId5"/>
    <p:sldId id="301" r:id="rId6"/>
    <p:sldId id="302" r:id="rId7"/>
    <p:sldId id="306" r:id="rId8"/>
    <p:sldId id="307" r:id="rId9"/>
    <p:sldId id="266" r:id="rId10"/>
    <p:sldId id="258" r:id="rId11"/>
    <p:sldId id="265" r:id="rId12"/>
    <p:sldId id="271" r:id="rId13"/>
    <p:sldId id="272" r:id="rId14"/>
    <p:sldId id="267" r:id="rId15"/>
    <p:sldId id="268" r:id="rId16"/>
    <p:sldId id="262" r:id="rId17"/>
    <p:sldId id="257" r:id="rId18"/>
    <p:sldId id="269" r:id="rId19"/>
    <p:sldId id="270" r:id="rId20"/>
    <p:sldId id="275" r:id="rId21"/>
    <p:sldId id="261" r:id="rId22"/>
    <p:sldId id="264" r:id="rId23"/>
    <p:sldId id="260" r:id="rId24"/>
    <p:sldId id="303" r:id="rId25"/>
    <p:sldId id="304" r:id="rId26"/>
    <p:sldId id="305" r:id="rId27"/>
    <p:sldId id="283" r:id="rId28"/>
    <p:sldId id="284" r:id="rId29"/>
    <p:sldId id="286" r:id="rId30"/>
    <p:sldId id="274" r:id="rId31"/>
    <p:sldId id="289" r:id="rId32"/>
    <p:sldId id="290" r:id="rId33"/>
    <p:sldId id="291" r:id="rId34"/>
    <p:sldId id="276" r:id="rId35"/>
    <p:sldId id="292" r:id="rId36"/>
    <p:sldId id="293" r:id="rId37"/>
    <p:sldId id="294" r:id="rId38"/>
    <p:sldId id="295" r:id="rId39"/>
    <p:sldId id="297" r:id="rId40"/>
    <p:sldId id="296" r:id="rId41"/>
    <p:sldId id="277" r:id="rId42"/>
    <p:sldId id="278" r:id="rId43"/>
    <p:sldId id="25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5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705748-5827-44D4-B412-2F3346453B7A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FECCA-C883-49D8-B7D1-67A5A7DD5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15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2572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3146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5685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8362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1840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516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2672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22855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49BB-1EFD-43D8-8927-7D0D92C97DD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64DA-18FA-4045-AE63-4A85BE83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838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49BB-1EFD-43D8-8927-7D0D92C97DD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64DA-18FA-4045-AE63-4A85BE83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3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49BB-1EFD-43D8-8927-7D0D92C97DD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64DA-18FA-4045-AE63-4A85BE83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34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49BB-1EFD-43D8-8927-7D0D92C97DD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64DA-18FA-4045-AE63-4A85BE83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9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49BB-1EFD-43D8-8927-7D0D92C97DD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64DA-18FA-4045-AE63-4A85BE83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8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49BB-1EFD-43D8-8927-7D0D92C97DD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64DA-18FA-4045-AE63-4A85BE83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9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49BB-1EFD-43D8-8927-7D0D92C97DD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64DA-18FA-4045-AE63-4A85BE83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9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49BB-1EFD-43D8-8927-7D0D92C97DD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64DA-18FA-4045-AE63-4A85BE83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04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49BB-1EFD-43D8-8927-7D0D92C97DD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64DA-18FA-4045-AE63-4A85BE83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89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49BB-1EFD-43D8-8927-7D0D92C97DD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64DA-18FA-4045-AE63-4A85BE83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7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49BB-1EFD-43D8-8927-7D0D92C97DD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64DA-18FA-4045-AE63-4A85BE83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75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D49BB-1EFD-43D8-8927-7D0D92C97DD7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C64DA-18FA-4045-AE63-4A85BE83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85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methods/built-in/print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r>
              <a:rPr lang="en-US" altLang="en-US" smtClean="0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The Basics</a:t>
            </a:r>
          </a:p>
        </p:txBody>
      </p:sp>
      <p:pic>
        <p:nvPicPr>
          <p:cNvPr id="45059" name="Picture 4" descr="AN03633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3505201"/>
            <a:ext cx="4054475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778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Image descrip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5575" y="178636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71717"/>
                </a:solidFill>
                <a:latin typeface="-apple-system"/>
              </a:rPr>
              <a:t>Code Editor: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654628" y="1775352"/>
            <a:ext cx="105373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1717"/>
                </a:solidFill>
                <a:latin typeface="-apple-system"/>
              </a:rPr>
              <a:t>You start by writing your Python code in a code editor. This is where you create your program and save it with a .</a:t>
            </a:r>
            <a:r>
              <a:rPr lang="en-US" dirty="0" err="1">
                <a:solidFill>
                  <a:srgbClr val="171717"/>
                </a:solidFill>
                <a:latin typeface="-apple-system"/>
              </a:rPr>
              <a:t>py</a:t>
            </a:r>
            <a:r>
              <a:rPr lang="en-US" dirty="0">
                <a:solidFill>
                  <a:srgbClr val="171717"/>
                </a:solidFill>
                <a:latin typeface="-apple-system"/>
              </a:rPr>
              <a:t> extension</a:t>
            </a:r>
            <a:endParaRPr lang="en-US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07975" y="2952598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5575" y="2571198"/>
            <a:ext cx="1505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171717"/>
                </a:solidFill>
                <a:latin typeface="-apple-system"/>
              </a:rPr>
              <a:t>Source File: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576250" y="2421683"/>
            <a:ext cx="1046770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/>
              <a:t/>
            </a:r>
            <a:br>
              <a:rPr lang="en-US" altLang="en-US" sz="900" dirty="0"/>
            </a:br>
            <a:r>
              <a:rPr lang="en-US" altLang="en-US" dirty="0">
                <a:solidFill>
                  <a:srgbClr val="171717"/>
                </a:solidFill>
                <a:latin typeface="-apple-system"/>
              </a:rPr>
              <a:t>Your Python code is saved in a source file with a .</a:t>
            </a:r>
            <a:r>
              <a:rPr lang="en-US" altLang="en-US" dirty="0" err="1">
                <a:solidFill>
                  <a:srgbClr val="171717"/>
                </a:solidFill>
                <a:latin typeface="-apple-system"/>
              </a:rPr>
              <a:t>py</a:t>
            </a:r>
            <a:r>
              <a:rPr lang="en-US" altLang="en-US" dirty="0">
                <a:solidFill>
                  <a:srgbClr val="171717"/>
                </a:solidFill>
                <a:latin typeface="-apple-system"/>
              </a:rPr>
              <a:t> extension, e.g., </a:t>
            </a:r>
            <a:r>
              <a:rPr lang="en-US" altLang="en-US" sz="1400" dirty="0">
                <a:solidFill>
                  <a:srgbClr val="171717"/>
                </a:solidFill>
                <a:latin typeface="SF Mono"/>
              </a:rPr>
              <a:t>hello.py</a:t>
            </a:r>
            <a:r>
              <a:rPr lang="en-US" altLang="en-US" dirty="0">
                <a:solidFill>
                  <a:srgbClr val="171717"/>
                </a:solidFill>
                <a:latin typeface="-apple-system"/>
              </a:rPr>
              <a:t>. This file contains the text of your program written in Python's syntax.</a:t>
            </a:r>
            <a:r>
              <a:rPr lang="en-US" altLang="en-US" sz="900" dirty="0"/>
              <a:t> 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5575" y="3390373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71717"/>
                </a:solidFill>
                <a:latin typeface="-apple-system"/>
              </a:rPr>
              <a:t>Bytecode: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314993" y="3390373"/>
            <a:ext cx="107289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1717"/>
                </a:solidFill>
                <a:latin typeface="-apple-system"/>
              </a:rPr>
              <a:t>Bytecode is an intermediate representation of your Python code. It's a low-level, platform-independent format that the Python interpreter can execute. Bytecode files (.</a:t>
            </a:r>
            <a:r>
              <a:rPr lang="en-US" dirty="0" err="1">
                <a:solidFill>
                  <a:srgbClr val="171717"/>
                </a:solidFill>
                <a:latin typeface="-apple-system"/>
              </a:rPr>
              <a:t>pyc</a:t>
            </a:r>
            <a:r>
              <a:rPr lang="en-US" dirty="0">
                <a:solidFill>
                  <a:srgbClr val="171717"/>
                </a:solidFill>
                <a:latin typeface="-apple-system"/>
              </a:rPr>
              <a:t>) are generated to improve execution speed.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849452" y="160338"/>
            <a:ext cx="3754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rialMT"/>
              </a:rPr>
              <a:t>Python </a:t>
            </a:r>
            <a:r>
              <a:rPr lang="en-US" sz="2400" b="1" dirty="0" smtClean="0">
                <a:latin typeface="ArialMT"/>
              </a:rPr>
              <a:t>Execution Model</a:t>
            </a:r>
            <a:endParaRPr lang="en-US" sz="2400" b="1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341" y="662091"/>
            <a:ext cx="6312776" cy="107317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55575" y="4497563"/>
            <a:ext cx="4181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71717"/>
                </a:solidFill>
                <a:latin typeface="-apple-system"/>
              </a:rPr>
              <a:t>Python Interpreter (Virtual Machine):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197530" y="4486547"/>
            <a:ext cx="78464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1717"/>
                </a:solidFill>
                <a:latin typeface="-apple-system"/>
              </a:rPr>
              <a:t>The Python interpreter is responsible for executing your Python code</a:t>
            </a:r>
            <a:r>
              <a:rPr lang="en-US" dirty="0" smtClean="0">
                <a:solidFill>
                  <a:srgbClr val="171717"/>
                </a:solidFill>
                <a:latin typeface="-apple-system"/>
              </a:rPr>
              <a:t>. You </a:t>
            </a:r>
            <a:r>
              <a:rPr lang="en-US" dirty="0">
                <a:solidFill>
                  <a:srgbClr val="171717"/>
                </a:solidFill>
                <a:latin typeface="-apple-system"/>
              </a:rPr>
              <a:t>execute the Python program in your terminal or command prompt.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92706" y="5209016"/>
            <a:ext cx="1155124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71717"/>
                </a:solidFill>
                <a:latin typeface="-apple-system"/>
              </a:rPr>
              <a:t>Lexical Analysis:</a:t>
            </a:r>
            <a:r>
              <a:rPr lang="en-US" sz="1600" dirty="0">
                <a:solidFill>
                  <a:srgbClr val="171717"/>
                </a:solidFill>
                <a:latin typeface="-apple-system"/>
              </a:rPr>
              <a:t> The interpreter reads the source code, breaks it down into tokens, and identifies keywords, identifiers, operators, and literals.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71717"/>
                </a:solidFill>
                <a:latin typeface="-apple-system"/>
              </a:rPr>
              <a:t>Parsing:</a:t>
            </a:r>
            <a:r>
              <a:rPr lang="en-US" sz="1600" dirty="0">
                <a:solidFill>
                  <a:srgbClr val="171717"/>
                </a:solidFill>
                <a:latin typeface="-apple-system"/>
              </a:rPr>
              <a:t> It constructs a parse tree to understand the code's structure and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71717"/>
                </a:solidFill>
                <a:latin typeface="-apple-system"/>
              </a:rPr>
              <a:t>Execution:</a:t>
            </a:r>
            <a:r>
              <a:rPr lang="en-US" sz="1600" dirty="0">
                <a:solidFill>
                  <a:srgbClr val="171717"/>
                </a:solidFill>
                <a:latin typeface="-apple-system"/>
              </a:rPr>
              <a:t> It executes the program by following the instructions defined in the parse tree. This includes performing calculations, I/O operations, and function calls</a:t>
            </a:r>
            <a:r>
              <a:rPr lang="en-US" sz="1600" dirty="0" smtClean="0">
                <a:solidFill>
                  <a:srgbClr val="171717"/>
                </a:solidFill>
                <a:latin typeface="-apple-system"/>
              </a:rPr>
              <a:t>.</a:t>
            </a:r>
            <a:endParaRPr lang="en-US" sz="1600" dirty="0">
              <a:solidFill>
                <a:srgbClr val="171717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145365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048" t="5968" r="16983" b="5524"/>
          <a:stretch/>
        </p:blipFill>
        <p:spPr>
          <a:xfrm>
            <a:off x="3778801" y="748937"/>
            <a:ext cx="4850733" cy="550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931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894" y="763179"/>
            <a:ext cx="68265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728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3830" y="867681"/>
            <a:ext cx="7520110" cy="533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416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200" y="423545"/>
            <a:ext cx="7743463" cy="523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00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877" y="662700"/>
            <a:ext cx="7910245" cy="55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025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4217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9302323-5514-4210-B56F-1AAE52E28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" y="180975"/>
            <a:ext cx="11830050" cy="6600825"/>
          </a:xfrm>
        </p:spPr>
        <p:txBody>
          <a:bodyPr>
            <a:normAutofit fontScale="92500"/>
          </a:bodyPr>
          <a:lstStyle/>
          <a:p>
            <a:r>
              <a:rPr lang="en-US" sz="4000" b="1" dirty="0" smtClean="0"/>
              <a:t>Data Types</a:t>
            </a:r>
            <a:endParaRPr lang="en-US" sz="4000" b="1" u="sng" dirty="0">
              <a:solidFill>
                <a:srgbClr val="FF0000"/>
              </a:solidFill>
            </a:endParaRPr>
          </a:p>
          <a:p>
            <a:endParaRPr lang="en-US" sz="3600" b="1" u="sng" dirty="0">
              <a:solidFill>
                <a:srgbClr val="FF0000"/>
              </a:solidFill>
            </a:endParaRPr>
          </a:p>
          <a:p>
            <a:pPr algn="l"/>
            <a:r>
              <a:rPr lang="en-US" sz="3500" dirty="0"/>
              <a:t>Common Data Types in Python: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3500" b="1" dirty="0"/>
              <a:t>Numbers</a:t>
            </a:r>
          </a:p>
          <a:p>
            <a:pPr marL="1200150" lvl="1" indent="-742950" algn="l">
              <a:buFont typeface="Arial" panose="020B0604020202020204" pitchFamily="34" charset="0"/>
              <a:buChar char="•"/>
            </a:pPr>
            <a:r>
              <a:rPr lang="en-US" sz="3500" dirty="0"/>
              <a:t>Integers (int): Whole numbers like 15, -3, 0</a:t>
            </a:r>
          </a:p>
          <a:p>
            <a:pPr marL="1200150" lvl="1" indent="-742950" algn="l">
              <a:buFont typeface="Arial" panose="020B0604020202020204" pitchFamily="34" charset="0"/>
              <a:buChar char="•"/>
            </a:pPr>
            <a:r>
              <a:rPr lang="en-US" sz="3500" dirty="0"/>
              <a:t>Floating point (float): Decimal numbers like 3.14, -0.5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3500" b="1" dirty="0"/>
              <a:t>Strings (str)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en-US" sz="3500" dirty="0"/>
              <a:t>Text surrounded by quotes, like "Hello" or 'Python'. Strings can include letters, numbers, and symbols but are treated as text.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3500" b="1" dirty="0"/>
              <a:t>Boolean (bool)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en-US" sz="3500" dirty="0"/>
              <a:t>Represents either True or False. Useful for making decisions in programs.</a:t>
            </a:r>
          </a:p>
        </p:txBody>
      </p:sp>
    </p:spTree>
    <p:extLst>
      <p:ext uri="{BB962C8B-B14F-4D97-AF65-F5344CB8AC3E}">
        <p14:creationId xmlns:p14="http://schemas.microsoft.com/office/powerpoint/2010/main" val="3380209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en-US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Basic Datatypes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6691" y="1086394"/>
            <a:ext cx="9144000" cy="5558246"/>
          </a:xfrm>
        </p:spPr>
        <p:txBody>
          <a:bodyPr>
            <a:normAutofit lnSpcReduction="10000"/>
          </a:bodyPr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Numbers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Integers </a:t>
            </a:r>
            <a:r>
              <a:rPr lang="en-US" altLang="en-US" dirty="0">
                <a:ea typeface="ＭＳ Ｐゴシック" panose="020B0600070205080204" pitchFamily="34" charset="-128"/>
              </a:rPr>
              <a:t>(default for numbers)</a:t>
            </a:r>
          </a:p>
          <a:p>
            <a:pPr lvl="1">
              <a:buFontTx/>
              <a:buNone/>
            </a:pPr>
            <a:r>
              <a:rPr lang="en-US" altLang="en-US" dirty="0" smtClean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 a </a:t>
            </a:r>
            <a:r>
              <a:rPr lang="en-US" altLang="en-US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= </a:t>
            </a:r>
            <a:r>
              <a:rPr lang="en-US" altLang="en-US" dirty="0" smtClean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50 </a:t>
            </a:r>
            <a:endParaRPr lang="en-US" altLang="en-US" dirty="0">
              <a:solidFill>
                <a:schemeClr val="accent2"/>
              </a:solidFill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 lvl="1">
              <a:buFontTx/>
              <a:buNone/>
            </a:pPr>
            <a:r>
              <a:rPr lang="en-US" altLang="en-US" dirty="0" smtClean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 z </a:t>
            </a:r>
            <a:r>
              <a:rPr lang="en-US" altLang="en-US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= 5 / 2  # Answer 2, integer division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Floats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>
              <a:buFontTx/>
              <a:buNone/>
            </a:pPr>
            <a:r>
              <a:rPr lang="en-US" altLang="en-US" dirty="0" smtClean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x </a:t>
            </a:r>
            <a:r>
              <a:rPr lang="en-US" altLang="en-US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= </a:t>
            </a:r>
            <a:r>
              <a:rPr lang="en-US" altLang="en-US" dirty="0" smtClean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3.456</a:t>
            </a:r>
            <a:endParaRPr lang="en-US" altLang="en-US" dirty="0">
              <a:solidFill>
                <a:schemeClr val="accent2"/>
              </a:solidFill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Strings</a:t>
            </a:r>
          </a:p>
          <a:p>
            <a:pPr lvl="1"/>
            <a:r>
              <a:rPr lang="en-US" altLang="en-US" sz="2600" dirty="0">
                <a:ea typeface="ＭＳ Ｐゴシック" panose="020B0600070205080204" pitchFamily="34" charset="-128"/>
              </a:rPr>
              <a:t>Can use “” or ‘’ to specify with </a:t>
            </a:r>
            <a:r>
              <a:rPr lang="en-US" altLang="en-US" sz="2600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“</a:t>
            </a:r>
            <a:r>
              <a:rPr lang="en-US" altLang="en-US" sz="2600" dirty="0" err="1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abc</a:t>
            </a:r>
            <a:r>
              <a:rPr lang="en-US" altLang="en-US" sz="2600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” </a:t>
            </a:r>
            <a:r>
              <a:rPr lang="en-US" altLang="en-US" sz="2600" dirty="0">
                <a:ea typeface="ＭＳ Ｐゴシック" panose="020B0600070205080204" pitchFamily="34" charset="-128"/>
              </a:rPr>
              <a:t>== </a:t>
            </a:r>
            <a:r>
              <a:rPr lang="en-US" altLang="en-US" sz="2600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‘</a:t>
            </a:r>
            <a:r>
              <a:rPr lang="en-US" altLang="en-US" sz="2600" dirty="0" err="1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abc</a:t>
            </a:r>
            <a:r>
              <a:rPr lang="en-US" altLang="en-US" sz="2600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’</a:t>
            </a:r>
            <a:endParaRPr lang="en-US" altLang="en-US" sz="26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600" dirty="0">
                <a:ea typeface="ＭＳ Ｐゴシック" panose="020B0600070205080204" pitchFamily="34" charset="-128"/>
              </a:rPr>
              <a:t>Use triple double-quotes for multi-line strings or strings than contain both ‘ and “ inside of them:  </a:t>
            </a:r>
            <a:br>
              <a:rPr lang="en-US" altLang="en-US" sz="2600" dirty="0">
                <a:ea typeface="ＭＳ Ｐゴシック" panose="020B0600070205080204" pitchFamily="34" charset="-128"/>
              </a:rPr>
            </a:br>
            <a:r>
              <a:rPr lang="en-US" altLang="en-US" sz="2600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“““</a:t>
            </a:r>
            <a:r>
              <a:rPr lang="en-US" altLang="en-US" sz="2600" dirty="0" err="1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a‘b“c</a:t>
            </a:r>
            <a:r>
              <a:rPr lang="en-US" altLang="en-US" sz="2600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”””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Boolean</a:t>
            </a:r>
          </a:p>
          <a:p>
            <a:pPr lvl="1"/>
            <a:r>
              <a:rPr lang="en-US" altLang="en-US" dirty="0" smtClean="0">
                <a:latin typeface="Roboto"/>
              </a:rPr>
              <a:t>Defined </a:t>
            </a:r>
            <a:r>
              <a:rPr lang="en-US" altLang="en-US" dirty="0">
                <a:latin typeface="Roboto"/>
              </a:rPr>
              <a:t>by the </a:t>
            </a:r>
            <a:r>
              <a:rPr lang="en-US" altLang="en-US" sz="1400" dirty="0">
                <a:solidFill>
                  <a:srgbClr val="37474F"/>
                </a:solidFill>
                <a:latin typeface="Roboto Mono"/>
              </a:rPr>
              <a:t>True</a:t>
            </a:r>
            <a:r>
              <a:rPr lang="en-US" altLang="en-US" dirty="0">
                <a:latin typeface="Roboto"/>
              </a:rPr>
              <a:t> and </a:t>
            </a:r>
            <a:r>
              <a:rPr lang="en-US" altLang="en-US" sz="1400" dirty="0">
                <a:solidFill>
                  <a:srgbClr val="37474F"/>
                </a:solidFill>
                <a:latin typeface="Roboto Mono"/>
              </a:rPr>
              <a:t>False</a:t>
            </a:r>
            <a:r>
              <a:rPr lang="en-US" altLang="en-US" dirty="0">
                <a:latin typeface="Roboto"/>
              </a:rPr>
              <a:t> keywords.</a:t>
            </a:r>
            <a:r>
              <a:rPr lang="en-US" altLang="en-US" sz="1200" dirty="0"/>
              <a:t> 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altLang="en-US" dirty="0" smtClean="0">
                <a:ea typeface="ＭＳ Ｐゴシック" panose="020B0600070205080204" pitchFamily="34" charset="-128"/>
              </a:rPr>
              <a:t>     </a:t>
            </a:r>
            <a:r>
              <a:rPr lang="en-US" altLang="en-US" dirty="0" smtClean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a=True</a:t>
            </a:r>
            <a:endParaRPr lang="en-US" altLang="en-US" dirty="0">
              <a:solidFill>
                <a:schemeClr val="accent2"/>
              </a:solidFill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392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9302323-5514-4210-B56F-1AAE52E28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941" y="546735"/>
            <a:ext cx="11830050" cy="6600825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Variable</a:t>
            </a:r>
            <a:endParaRPr lang="en-US" sz="4000" b="1" u="sng" dirty="0">
              <a:solidFill>
                <a:srgbClr val="FF0000"/>
              </a:solidFill>
            </a:endParaRPr>
          </a:p>
          <a:p>
            <a:pPr algn="l"/>
            <a:r>
              <a:rPr lang="en-US" sz="2800" b="1" dirty="0"/>
              <a:t>Variable:  </a:t>
            </a:r>
            <a:r>
              <a:rPr lang="en-US" sz="2800" dirty="0"/>
              <a:t>A variable is like a labeled container that stores information. You can put a value inside this container and use it later in your program. </a:t>
            </a:r>
          </a:p>
          <a:p>
            <a:pPr algn="l"/>
            <a:endParaRPr lang="en-US" sz="2800" dirty="0"/>
          </a:p>
          <a:p>
            <a:pPr algn="l"/>
            <a:r>
              <a:rPr lang="en-US" sz="2800" b="1" dirty="0"/>
              <a:t>Example:</a:t>
            </a:r>
          </a:p>
          <a:p>
            <a:pPr algn="l"/>
            <a:r>
              <a:rPr lang="en-US" sz="2800" dirty="0"/>
              <a:t>			age = 15</a:t>
            </a:r>
          </a:p>
          <a:p>
            <a:pPr algn="l"/>
            <a:r>
              <a:rPr lang="en-US" sz="2800" dirty="0"/>
              <a:t>			name = "Anya"</a:t>
            </a:r>
          </a:p>
          <a:p>
            <a:pPr algn="l"/>
            <a:endParaRPr lang="en-US" sz="28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800" dirty="0" smtClean="0"/>
              <a:t>Here</a:t>
            </a:r>
            <a:r>
              <a:rPr lang="en-US" sz="2800" dirty="0"/>
              <a:t>, age holds the number 15, and name holds the text "Anya"</a:t>
            </a:r>
          </a:p>
        </p:txBody>
      </p:sp>
      <p:pic>
        <p:nvPicPr>
          <p:cNvPr id="1026" name="Picture 2" descr="What is a Variable in Programming (Hindi / Urdu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506"/>
          <a:stretch/>
        </p:blipFill>
        <p:spPr bwMode="auto">
          <a:xfrm>
            <a:off x="6153966" y="2195587"/>
            <a:ext cx="5704114" cy="305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249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Variables in Programming and How they Work | by Dev Frank | Level Up Cod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759" y="240664"/>
            <a:ext cx="6403975" cy="640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658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Python Variables | A Comprehensive Guide + Examples // Unsto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6" t="6619" r="13154" b="2597"/>
          <a:stretch/>
        </p:blipFill>
        <p:spPr bwMode="auto">
          <a:xfrm>
            <a:off x="1615439" y="670560"/>
            <a:ext cx="7559041" cy="532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892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F86843-CF0F-DA46-AC3D-66BA81B3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+mn-lt"/>
                <a:ea typeface="+mn-ea"/>
                <a:cs typeface="+mn-cs"/>
              </a:rPr>
              <a:t>Variable Names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40C105-BAAB-1A4A-84FE-30CDFD8B1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3440"/>
            <a:ext cx="11536680" cy="5381898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sz="2400" dirty="0"/>
              <a:t>A variable can have a short name (like x and y) or a more descriptive name (age, </a:t>
            </a:r>
            <a:r>
              <a:rPr lang="en-US" sz="2400" dirty="0" err="1"/>
              <a:t>carname</a:t>
            </a:r>
            <a:r>
              <a:rPr lang="en-US" sz="2400" dirty="0"/>
              <a:t>, </a:t>
            </a:r>
            <a:r>
              <a:rPr lang="en-US" sz="2400" dirty="0" err="1"/>
              <a:t>total_volume</a:t>
            </a:r>
            <a:r>
              <a:rPr lang="en-US" sz="2400" dirty="0"/>
              <a:t>).</a:t>
            </a:r>
          </a:p>
          <a:p>
            <a:pPr>
              <a:lnSpc>
                <a:spcPct val="160000"/>
              </a:lnSpc>
            </a:pPr>
            <a:r>
              <a:rPr lang="en-US" sz="2400" dirty="0"/>
              <a:t>Rules for Python variables:</a:t>
            </a:r>
          </a:p>
          <a:p>
            <a:pPr>
              <a:lnSpc>
                <a:spcPct val="160000"/>
              </a:lnSpc>
            </a:pPr>
            <a:r>
              <a:rPr lang="en-US" sz="2400" dirty="0"/>
              <a:t>A variable name must start with a letter or the underscore character</a:t>
            </a:r>
          </a:p>
          <a:p>
            <a:pPr>
              <a:lnSpc>
                <a:spcPct val="160000"/>
              </a:lnSpc>
            </a:pPr>
            <a:r>
              <a:rPr lang="en-US" sz="2400" dirty="0"/>
              <a:t>A variable name cannot start with a number</a:t>
            </a:r>
          </a:p>
          <a:p>
            <a:pPr>
              <a:lnSpc>
                <a:spcPct val="160000"/>
              </a:lnSpc>
            </a:pPr>
            <a:r>
              <a:rPr lang="en-US" sz="2400" dirty="0"/>
              <a:t>A variable name can only contain alpha-numeric characters and underscores (A-z, 0-9, and _ )</a:t>
            </a:r>
          </a:p>
          <a:p>
            <a:pPr>
              <a:lnSpc>
                <a:spcPct val="160000"/>
              </a:lnSpc>
            </a:pPr>
            <a:r>
              <a:rPr lang="en-US" sz="2400" dirty="0"/>
              <a:t>Variable names are case-sensitive (age, Age and AGE are three different variables)</a:t>
            </a:r>
          </a:p>
          <a:p>
            <a:pPr>
              <a:lnSpc>
                <a:spcPct val="160000"/>
              </a:lnSpc>
            </a:pPr>
            <a:r>
              <a:rPr lang="en-US" sz="2400" dirty="0"/>
              <a:t>A variable name cannot be any of the </a:t>
            </a:r>
            <a:r>
              <a:rPr lang="en-US" sz="2400" b="1" dirty="0"/>
              <a:t>Python </a:t>
            </a:r>
            <a:r>
              <a:rPr lang="en-US" sz="2400" b="1" dirty="0" smtClean="0"/>
              <a:t>keywords</a:t>
            </a:r>
            <a:r>
              <a:rPr lang="en-US" sz="2400" b="1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37291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0F26275-4EC3-BD41-8A9C-888259B5A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2000"/>
            <a:ext cx="10515600" cy="5414963"/>
          </a:xfrm>
        </p:spPr>
        <p:txBody>
          <a:bodyPr/>
          <a:lstStyle/>
          <a:p>
            <a:r>
              <a:rPr lang="en-US" dirty="0"/>
              <a:t>Legal variable names:</a:t>
            </a:r>
          </a:p>
          <a:p>
            <a:pPr marL="0" indent="0">
              <a:buNone/>
            </a:pPr>
            <a:r>
              <a:rPr lang="en-US" dirty="0" err="1"/>
              <a:t>myvar</a:t>
            </a:r>
            <a:r>
              <a:rPr lang="en-US" dirty="0"/>
              <a:t> = "John"</a:t>
            </a:r>
            <a:br>
              <a:rPr lang="en-US" dirty="0"/>
            </a:br>
            <a:r>
              <a:rPr lang="en-US" dirty="0" err="1"/>
              <a:t>my_var</a:t>
            </a:r>
            <a:r>
              <a:rPr lang="en-US" dirty="0"/>
              <a:t> = "John"</a:t>
            </a:r>
            <a:br>
              <a:rPr lang="en-US" dirty="0"/>
            </a:br>
            <a:r>
              <a:rPr lang="en-US" dirty="0"/>
              <a:t>_</a:t>
            </a:r>
            <a:r>
              <a:rPr lang="en-US" dirty="0" err="1"/>
              <a:t>my_var</a:t>
            </a:r>
            <a:r>
              <a:rPr lang="en-US" dirty="0"/>
              <a:t> = "John"</a:t>
            </a:r>
            <a:br>
              <a:rPr lang="en-US" dirty="0"/>
            </a:br>
            <a:r>
              <a:rPr lang="en-US" dirty="0" err="1"/>
              <a:t>myVar</a:t>
            </a:r>
            <a:r>
              <a:rPr lang="en-US" dirty="0"/>
              <a:t> = "John"</a:t>
            </a:r>
            <a:br>
              <a:rPr lang="en-US" dirty="0"/>
            </a:br>
            <a:r>
              <a:rPr lang="en-US" dirty="0"/>
              <a:t>MYVAR = "John"</a:t>
            </a:r>
            <a:br>
              <a:rPr lang="en-US" dirty="0"/>
            </a:br>
            <a:r>
              <a:rPr lang="en-US" dirty="0"/>
              <a:t>myvar2 = "John”</a:t>
            </a:r>
          </a:p>
          <a:p>
            <a:r>
              <a:rPr lang="en-US" dirty="0"/>
              <a:t>Illegal variable names:</a:t>
            </a:r>
          </a:p>
          <a:p>
            <a:r>
              <a:rPr lang="en-US" dirty="0"/>
              <a:t>2myvar = "John"</a:t>
            </a:r>
            <a:br>
              <a:rPr lang="en-US" dirty="0"/>
            </a:br>
            <a:r>
              <a:rPr lang="en-US" dirty="0"/>
              <a:t>my-</a:t>
            </a:r>
            <a:r>
              <a:rPr lang="en-US" dirty="0" err="1"/>
              <a:t>var</a:t>
            </a:r>
            <a:r>
              <a:rPr lang="en-US" dirty="0"/>
              <a:t> = "John"</a:t>
            </a:r>
            <a:br>
              <a:rPr lang="en-US" dirty="0"/>
            </a:br>
            <a:r>
              <a:rPr lang="en-US" dirty="0"/>
              <a:t>my </a:t>
            </a:r>
            <a:r>
              <a:rPr lang="en-US" dirty="0" err="1"/>
              <a:t>var</a:t>
            </a:r>
            <a:r>
              <a:rPr lang="en-US" dirty="0"/>
              <a:t> = "John"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20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Naming Rules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Names are case sensitive and cannot start with a number.  They can contain letters, numbers, and underscores.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bob  Bob  _bob  _2_bob_  bob_2  BoB</a:t>
            </a:r>
          </a:p>
          <a:p>
            <a:pPr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There are some reserved words: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2D2DB9"/>
                </a:solidFill>
                <a:ea typeface="ＭＳ Ｐゴシック" panose="020B0600070205080204" pitchFamily="34" charset="-128"/>
              </a:rPr>
              <a:t>	</a:t>
            </a:r>
            <a:r>
              <a:rPr lang="en-US" altLang="en-US">
                <a:solidFill>
                  <a:srgbClr val="2D2DB9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and, assert, break, class, continue, def, del, elif, else, except, exec, finally, for, from, global, if, import, in, is, lambda, not, or, pass, print, raise, return, try, while</a:t>
            </a:r>
          </a:p>
        </p:txBody>
      </p:sp>
    </p:spTree>
    <p:extLst>
      <p:ext uri="{BB962C8B-B14F-4D97-AF65-F5344CB8AC3E}">
        <p14:creationId xmlns:p14="http://schemas.microsoft.com/office/powerpoint/2010/main" val="305901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Enough to Understand the Code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7772400" cy="5257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>
                <a:ea typeface="ＭＳ Ｐゴシック" panose="020B0600070205080204" pitchFamily="34" charset="-128"/>
              </a:rPr>
              <a:t>First </a:t>
            </a:r>
            <a:r>
              <a:rPr lang="en-US" altLang="en-US" dirty="0">
                <a:ea typeface="ＭＳ Ｐゴシック" panose="020B0600070205080204" pitchFamily="34" charset="-128"/>
              </a:rPr>
              <a:t>assignment to a variable creates it</a:t>
            </a:r>
          </a:p>
          <a:p>
            <a:pPr marL="457200" lvl="1" indent="-220663"/>
            <a:r>
              <a:rPr lang="en-US" altLang="en-US" dirty="0">
                <a:ea typeface="ＭＳ Ｐゴシック" panose="020B0600070205080204" pitchFamily="34" charset="-128"/>
              </a:rPr>
              <a:t>Variable types don’t need to be declared.</a:t>
            </a:r>
          </a:p>
          <a:p>
            <a:pPr marL="457200" lvl="1" indent="-220663"/>
            <a:r>
              <a:rPr lang="en-US" altLang="en-US" dirty="0">
                <a:ea typeface="ＭＳ Ｐゴシック" panose="020B0600070205080204" pitchFamily="34" charset="-128"/>
              </a:rPr>
              <a:t>Python figures out the variable types on its own.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Assignment is </a:t>
            </a:r>
            <a:r>
              <a:rPr lang="en-US" altLang="en-US" i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=</a:t>
            </a:r>
            <a:r>
              <a:rPr lang="en-US" altLang="en-US" dirty="0">
                <a:ea typeface="ＭＳ Ｐゴシック" panose="020B0600070205080204" pitchFamily="34" charset="-128"/>
              </a:rPr>
              <a:t> and comparison is </a:t>
            </a:r>
            <a:r>
              <a:rPr lang="en-US" altLang="en-US" i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==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For numbers </a:t>
            </a:r>
            <a:r>
              <a:rPr lang="en-US" altLang="en-US" i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+ - * / %</a:t>
            </a:r>
            <a:r>
              <a:rPr lang="en-US" altLang="en-US" dirty="0">
                <a:ea typeface="ＭＳ Ｐゴシック" panose="020B0600070205080204" pitchFamily="34" charset="-128"/>
              </a:rPr>
              <a:t> are as expected</a:t>
            </a:r>
          </a:p>
          <a:p>
            <a:pPr marL="457200" lvl="1" indent="-220663"/>
            <a:r>
              <a:rPr lang="en-US" altLang="en-US" dirty="0">
                <a:ea typeface="ＭＳ Ｐゴシック" panose="020B0600070205080204" pitchFamily="34" charset="-128"/>
              </a:rPr>
              <a:t>Special use of </a:t>
            </a:r>
            <a:r>
              <a:rPr lang="en-US" altLang="en-US" sz="2800" b="1" i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+</a:t>
            </a:r>
            <a:r>
              <a:rPr lang="en-US" altLang="en-US" dirty="0">
                <a:ea typeface="ＭＳ Ｐゴシック" panose="020B0600070205080204" pitchFamily="34" charset="-128"/>
              </a:rPr>
              <a:t> for string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concatenation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Logical operators are words (</a:t>
            </a:r>
            <a:r>
              <a:rPr lang="en-US" altLang="en-US" dirty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and, or, </a:t>
            </a:r>
            <a:r>
              <a:rPr lang="en-US" altLang="en-US" dirty="0" smtClean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not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)</a:t>
            </a:r>
            <a:endParaRPr lang="en-US" altLang="en-US" i="1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The basic printing command is </a:t>
            </a:r>
            <a:r>
              <a:rPr lang="en-US" altLang="en-US" dirty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print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Indentation matters to code meaning</a:t>
            </a:r>
          </a:p>
          <a:p>
            <a:pPr marL="457200" lvl="1" indent="-220663"/>
            <a:r>
              <a:rPr lang="en-US" altLang="en-US" dirty="0">
                <a:ea typeface="ＭＳ Ｐゴシック" panose="020B0600070205080204" pitchFamily="34" charset="-128"/>
              </a:rPr>
              <a:t>Block structure indicated by indentation</a:t>
            </a:r>
          </a:p>
          <a:p>
            <a:pPr>
              <a:lnSpc>
                <a:spcPct val="90000"/>
              </a:lnSpc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76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FDB43B-0A3B-8647-85B1-126F22C53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97633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/>
              <a:t>check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8AD70BCA-4999-1349-815A-224B9F8B7C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383351"/>
              </p:ext>
            </p:extLst>
          </p:nvPr>
        </p:nvGraphicFramePr>
        <p:xfrm>
          <a:off x="925286" y="1462089"/>
          <a:ext cx="5257800" cy="28346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xmlns="" val="2522568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Variable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9001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1455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user_name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55605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_temp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928648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Speed2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78982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totalAmount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5694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MAX_LIMIT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4451686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xmlns="" id="{6C80419A-F320-874D-87F1-E141E2941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397013"/>
              </p:ext>
            </p:extLst>
          </p:nvPr>
        </p:nvGraphicFramePr>
        <p:xfrm>
          <a:off x="925286" y="4296729"/>
          <a:ext cx="4114798" cy="1828800"/>
        </p:xfrm>
        <a:graphic>
          <a:graphicData uri="http://schemas.openxmlformats.org/drawingml/2006/table">
            <a:tbl>
              <a:tblPr/>
              <a:tblGrid>
                <a:gridCol w="2057399">
                  <a:extLst>
                    <a:ext uri="{9D8B030D-6E8A-4147-A177-3AD203B41FA5}">
                      <a16:colId xmlns:a16="http://schemas.microsoft.com/office/drawing/2014/main" xmlns="" val="1889359890"/>
                    </a:ext>
                  </a:extLst>
                </a:gridCol>
                <a:gridCol w="2057399">
                  <a:extLst>
                    <a:ext uri="{9D8B030D-6E8A-4147-A177-3AD203B41FA5}">
                      <a16:colId xmlns:a16="http://schemas.microsoft.com/office/drawing/2014/main" xmlns="" val="766015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user-name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8677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10637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first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80996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@data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86689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8234442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xmlns="" id="{A99CABDF-8EC9-6B43-B2E4-653D80645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063461"/>
              </p:ext>
            </p:extLst>
          </p:nvPr>
        </p:nvGraphicFramePr>
        <p:xfrm>
          <a:off x="5519057" y="1484791"/>
          <a:ext cx="5257800" cy="31089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xmlns="" val="3703451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Reason It's Correct/Incorrect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13329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Simple and valid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81188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Uses underscore, starts with a letter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40484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Starts with underscore – valid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17084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Contains numbers after first letter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Cannot start with a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91696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CamelCase is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04868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Uppercase with underscore – common style</a:t>
                      </a:r>
                    </a:p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4500093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xmlns="" id="{6DCBAFD9-D54C-C64D-BEBA-B33B87A92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188327"/>
              </p:ext>
            </p:extLst>
          </p:nvPr>
        </p:nvGraphicFramePr>
        <p:xfrm>
          <a:off x="5519057" y="4319431"/>
          <a:ext cx="52578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xmlns="" val="136106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Hyphens are not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77642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class is a reserved keyword in many languages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3642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Spaces are not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49222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Special characters (except _) are not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00638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Reserved keyword (data type)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51623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949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A8227-E222-1C43-A284-D2F82AA9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18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Multi Words Variable Names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6B6A12F-9025-B44B-8577-938E92C53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171"/>
            <a:ext cx="10515600" cy="5290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Variable names with more than one word can be difficult to read.</a:t>
            </a:r>
          </a:p>
          <a:p>
            <a:r>
              <a:rPr lang="en-US" dirty="0"/>
              <a:t>There are several techniques you can use to make them more readable:</a:t>
            </a:r>
          </a:p>
          <a:p>
            <a:r>
              <a:rPr lang="en-US" dirty="0"/>
              <a:t>Camel Case</a:t>
            </a:r>
          </a:p>
          <a:p>
            <a:pPr lvl="1"/>
            <a:r>
              <a:rPr lang="en-US" dirty="0"/>
              <a:t>Each word, except the first, starts with a capital letter:</a:t>
            </a:r>
          </a:p>
          <a:p>
            <a:pPr lvl="1"/>
            <a:r>
              <a:rPr lang="en-US" dirty="0" err="1"/>
              <a:t>myVariableName</a:t>
            </a:r>
            <a:r>
              <a:rPr lang="en-US" dirty="0"/>
              <a:t> = "John"</a:t>
            </a:r>
          </a:p>
          <a:p>
            <a:r>
              <a:rPr lang="en-US" dirty="0"/>
              <a:t>Pascal Case</a:t>
            </a:r>
          </a:p>
          <a:p>
            <a:pPr lvl="1"/>
            <a:r>
              <a:rPr lang="en-US" dirty="0"/>
              <a:t>Each word starts with a capital letter:</a:t>
            </a:r>
          </a:p>
          <a:p>
            <a:pPr lvl="1"/>
            <a:r>
              <a:rPr lang="en-US" dirty="0" err="1"/>
              <a:t>MyVariableName</a:t>
            </a:r>
            <a:r>
              <a:rPr lang="en-US" dirty="0"/>
              <a:t> = "John"</a:t>
            </a:r>
          </a:p>
          <a:p>
            <a:r>
              <a:rPr lang="en-US" dirty="0"/>
              <a:t>Snake Case</a:t>
            </a:r>
          </a:p>
          <a:p>
            <a:pPr lvl="1"/>
            <a:r>
              <a:rPr lang="en-US" dirty="0"/>
              <a:t>Each word is separated by an underscore character:</a:t>
            </a:r>
          </a:p>
          <a:p>
            <a:pPr lvl="1"/>
            <a:r>
              <a:rPr lang="en-US" dirty="0" err="1"/>
              <a:t>my_variable_name</a:t>
            </a:r>
            <a:r>
              <a:rPr lang="en-US" dirty="0"/>
              <a:t> = "John"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061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 NAMING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301982"/>
            <a:ext cx="3221167" cy="19499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813" y="2301982"/>
            <a:ext cx="6601987" cy="211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274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Assignment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en-US" b="0" i="1" dirty="0" smtClean="0">
                <a:ea typeface="ＭＳ Ｐゴシック" panose="020B0600070205080204" pitchFamily="34" charset="-128"/>
              </a:rPr>
              <a:t>Binding a variable</a:t>
            </a:r>
            <a:r>
              <a:rPr lang="en-US" altLang="en-US" b="0" dirty="0" smtClean="0">
                <a:ea typeface="ＭＳ Ｐゴシック" panose="020B0600070205080204" pitchFamily="34" charset="-128"/>
              </a:rPr>
              <a:t> in Python means setting a </a:t>
            </a:r>
            <a:r>
              <a:rPr lang="en-US" altLang="en-US" b="0" i="1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name</a:t>
            </a:r>
            <a:r>
              <a:rPr lang="en-US" altLang="en-US" b="0" dirty="0" smtClean="0">
                <a:ea typeface="ＭＳ Ｐゴシック" panose="020B0600070205080204" pitchFamily="34" charset="-128"/>
              </a:rPr>
              <a:t> to hold a </a:t>
            </a:r>
            <a:r>
              <a:rPr lang="en-US" altLang="en-US" b="0" i="1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reference</a:t>
            </a:r>
            <a:r>
              <a:rPr lang="en-US" altLang="en-US" b="0" dirty="0" smtClean="0">
                <a:ea typeface="ＭＳ Ｐゴシック" panose="020B0600070205080204" pitchFamily="34" charset="-128"/>
              </a:rPr>
              <a:t> to some </a:t>
            </a:r>
            <a:r>
              <a:rPr lang="en-US" altLang="en-US" b="0" i="1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object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en-US" dirty="0" smtClean="0">
                <a:ea typeface="ＭＳ Ｐゴシック" panose="020B0600070205080204" pitchFamily="34" charset="-128"/>
              </a:rPr>
              <a:t>Python determines the type of the reference automatically based on what data is assigned to it</a:t>
            </a:r>
          </a:p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en-US" b="0" dirty="0" smtClean="0">
                <a:ea typeface="ＭＳ Ｐゴシック" panose="020B0600070205080204" pitchFamily="34" charset="-128"/>
              </a:rPr>
              <a:t>You create a name the first time it appears on the left side of an assignment expression:    </a:t>
            </a:r>
            <a:br>
              <a:rPr lang="en-US" altLang="en-US" b="0" dirty="0" smtClean="0">
                <a:ea typeface="ＭＳ Ｐゴシック" panose="020B0600070205080204" pitchFamily="34" charset="-128"/>
              </a:rPr>
            </a:br>
            <a:r>
              <a:rPr lang="en-US" altLang="en-US" sz="2000" dirty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x = </a:t>
            </a:r>
            <a:r>
              <a:rPr lang="en-US" altLang="en-US" sz="2000" dirty="0" smtClean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3</a:t>
            </a:r>
            <a:endParaRPr lang="en-US" altLang="en-US" sz="2000" dirty="0">
              <a:solidFill>
                <a:schemeClr val="accent2"/>
              </a:solidFill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010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Assignment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236538" indent="-236538"/>
            <a:r>
              <a:rPr lang="en-US" altLang="en-US" sz="3200">
                <a:ea typeface="ＭＳ Ｐゴシック" panose="020B0600070205080204" pitchFamily="34" charset="-128"/>
              </a:rPr>
              <a:t>You can assign to multiple names at the same time 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66003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&gt;&gt;&gt;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x, y = 2, 3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66003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&gt;&gt;&gt;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x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2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66003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&gt;&gt;&gt;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y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3</a:t>
            </a:r>
          </a:p>
          <a:p>
            <a:pPr marL="236538" indent="-236538">
              <a:buNone/>
            </a:pPr>
            <a:r>
              <a:rPr lang="en-US" altLang="en-US" sz="3200">
                <a:solidFill>
                  <a:srgbClr val="000000"/>
                </a:solidFill>
                <a:ea typeface="ＭＳ Ｐゴシック" panose="020B0600070205080204" pitchFamily="34" charset="-128"/>
              </a:rPr>
              <a:t>This makes it easy to swap values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66003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&gt;&gt;&gt;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x, y = y, x</a:t>
            </a:r>
          </a:p>
          <a:p>
            <a:pPr marL="236538" indent="-236538"/>
            <a:r>
              <a:rPr lang="en-US" altLang="en-US" sz="3200">
                <a:ea typeface="ＭＳ Ｐゴシック" panose="020B0600070205080204" pitchFamily="34" charset="-128"/>
              </a:rPr>
              <a:t>Assignments can be chained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66003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&gt;&gt;&gt;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a = b = x = 2</a:t>
            </a:r>
          </a:p>
        </p:txBody>
      </p:sp>
    </p:spTree>
    <p:extLst>
      <p:ext uri="{BB962C8B-B14F-4D97-AF65-F5344CB8AC3E}">
        <p14:creationId xmlns:p14="http://schemas.microsoft.com/office/powerpoint/2010/main" val="292702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Comments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924800" cy="5334000"/>
          </a:xfrm>
        </p:spPr>
        <p:txBody>
          <a:bodyPr/>
          <a:lstStyle/>
          <a:p>
            <a:pPr marL="236538" indent="-236538"/>
            <a:r>
              <a:rPr lang="en-US" altLang="en-US" dirty="0">
                <a:ea typeface="ＭＳ Ｐゴシック" panose="020B0600070205080204" pitchFamily="34" charset="-128"/>
              </a:rPr>
              <a:t>Start comments with </a:t>
            </a:r>
            <a:r>
              <a:rPr lang="en-US" altLang="en-US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#, </a:t>
            </a:r>
            <a:r>
              <a:rPr lang="en-US" altLang="en-US" dirty="0">
                <a:ea typeface="ＭＳ Ｐゴシック" panose="020B0600070205080204" pitchFamily="34" charset="-128"/>
              </a:rPr>
              <a:t>rest of line is ignored</a:t>
            </a:r>
          </a:p>
          <a:p>
            <a:pPr marL="236538" indent="-236538"/>
            <a:r>
              <a:rPr lang="en-US" altLang="en-US" dirty="0" smtClean="0">
                <a:ea typeface="ＭＳ Ｐゴシック" panose="020B0600070205080204" pitchFamily="34" charset="-128"/>
              </a:rPr>
              <a:t>Development </a:t>
            </a:r>
            <a:r>
              <a:rPr lang="en-US" altLang="en-US" dirty="0">
                <a:ea typeface="ＭＳ Ｐゴシック" panose="020B0600070205080204" pitchFamily="34" charset="-128"/>
              </a:rPr>
              <a:t>environments, debugger, and other tools use it: it’s good style to include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one</a:t>
            </a:r>
          </a:p>
          <a:p>
            <a:pPr marL="236538" indent="-236538"/>
            <a:endParaRPr lang="en-US" altLang="en-US" dirty="0">
              <a:ea typeface="ＭＳ Ｐゴシック" panose="020B0600070205080204" pitchFamily="34" charset="-128"/>
            </a:endParaRPr>
          </a:p>
          <a:p>
            <a:pPr marL="236538" indent="-236538"/>
            <a:endParaRPr lang="en-US" altLang="en-US" dirty="0">
              <a:ea typeface="ＭＳ Ｐゴシック" panose="020B0600070205080204" pitchFamily="34" charset="-128"/>
            </a:endParaRPr>
          </a:p>
          <a:p>
            <a:pPr lvl="1">
              <a:buFontTx/>
              <a:buNone/>
            </a:pPr>
            <a:endParaRPr lang="en-US" altLang="en-US" sz="800" dirty="0">
              <a:solidFill>
                <a:srgbClr val="FF660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48" y="2984362"/>
            <a:ext cx="3269069" cy="63906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38200" y="262096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5265E"/>
                </a:solidFill>
                <a:latin typeface="euclid_circular_a"/>
              </a:rPr>
              <a:t>Single-line Comment</a:t>
            </a:r>
            <a:endParaRPr lang="en-US" b="1" i="0" dirty="0">
              <a:solidFill>
                <a:srgbClr val="25265E"/>
              </a:solidFill>
              <a:effectLst/>
              <a:latin typeface="euclid_circular_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68935" y="2620963"/>
            <a:ext cx="2377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5265E"/>
                </a:solidFill>
                <a:latin typeface="euclid_circular_a"/>
              </a:rPr>
              <a:t>Multiline Comments</a:t>
            </a:r>
            <a:endParaRPr lang="en-US" b="1" i="0" dirty="0">
              <a:solidFill>
                <a:srgbClr val="25265E"/>
              </a:solidFill>
              <a:effectLst/>
              <a:latin typeface="euclid_circular_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935" y="2984362"/>
            <a:ext cx="4056115" cy="16032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5872" y="4659655"/>
            <a:ext cx="3256037" cy="2087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81199" y="4462006"/>
            <a:ext cx="470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ea typeface="ＭＳ Ｐゴシック" panose="020B0600070205080204" pitchFamily="34" charset="-128"/>
              </a:rPr>
              <a:t>OR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0508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</a:t>
            </a:r>
            <a:r>
              <a:rPr lang="en-US" b="1" dirty="0" smtClean="0"/>
              <a:t>Output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0712" y="2320907"/>
            <a:ext cx="2560542" cy="784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85520" y="1571675"/>
            <a:ext cx="9428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euclid_circular_a"/>
              </a:rPr>
              <a:t>In Python, we can simply use the </a:t>
            </a:r>
            <a:r>
              <a:rPr lang="en-US" dirty="0">
                <a:solidFill>
                  <a:srgbClr val="0556F3"/>
                </a:solidFill>
                <a:latin typeface="euclid_circular_a"/>
                <a:hlinkClick r:id="rId3"/>
              </a:rPr>
              <a:t>print()</a:t>
            </a:r>
            <a:r>
              <a:rPr lang="en-US" dirty="0">
                <a:latin typeface="euclid_circular_a"/>
              </a:rPr>
              <a:t> function to print output. For example,</a:t>
            </a:r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891280" y="2467150"/>
            <a:ext cx="7106104" cy="246221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Here, the </a:t>
            </a:r>
            <a:r>
              <a:rPr kumimoji="0" lang="en-US" alt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print()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function displays the string enclosed inside the single quotation</a:t>
            </a:r>
            <a:r>
              <a:rPr kumimoji="0" lang="en-US" altLang="en-US" sz="1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704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162" y="1971041"/>
            <a:ext cx="4818711" cy="12009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62" y="3977586"/>
            <a:ext cx="3443078" cy="184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9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print() with end </a:t>
            </a:r>
            <a:r>
              <a:rPr lang="en-US" b="1" dirty="0" smtClean="0"/>
              <a:t>Parameter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90145"/>
            <a:ext cx="3981581" cy="391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1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302323-5514-4210-B56F-1AAE52E28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" y="180975"/>
            <a:ext cx="11830050" cy="6600825"/>
          </a:xfrm>
        </p:spPr>
        <p:txBody>
          <a:bodyPr>
            <a:normAutofit/>
          </a:bodyPr>
          <a:lstStyle/>
          <a:p>
            <a:r>
              <a:rPr lang="en-US" sz="4000" b="1" u="sng" dirty="0" smtClean="0">
                <a:solidFill>
                  <a:srgbClr val="FF0000"/>
                </a:solidFill>
              </a:rPr>
              <a:t>My First Python Program</a:t>
            </a:r>
            <a:endParaRPr lang="en-US" sz="3600" b="1" u="sng" dirty="0">
              <a:solidFill>
                <a:srgbClr val="FF0000"/>
              </a:solidFill>
            </a:endParaRPr>
          </a:p>
          <a:p>
            <a:pPr algn="l"/>
            <a:r>
              <a:rPr lang="en-US" sz="3600" b="1" dirty="0"/>
              <a:t>Program:</a:t>
            </a:r>
          </a:p>
          <a:p>
            <a:pPr algn="l"/>
            <a:endParaRPr lang="en-US" sz="3600" dirty="0"/>
          </a:p>
          <a:p>
            <a:pPr algn="l"/>
            <a:r>
              <a:rPr lang="en-US" sz="3600" dirty="0"/>
              <a:t>print("Hello, world!")</a:t>
            </a:r>
            <a:endParaRPr lang="en-US" sz="3600" b="1" dirty="0"/>
          </a:p>
          <a:p>
            <a:pPr algn="l"/>
            <a:r>
              <a:rPr lang="en-US" sz="3600" dirty="0"/>
              <a:t>This tells the computer to display a greeting message.</a:t>
            </a:r>
          </a:p>
          <a:p>
            <a:pPr algn="l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17011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3DB4976-1BD1-5B41-9D34-724C51138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967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#This is a comment</a:t>
            </a:r>
            <a:br>
              <a:rPr lang="en-US" dirty="0"/>
            </a:br>
            <a:r>
              <a:rPr lang="en-US" dirty="0"/>
              <a:t>#written in</a:t>
            </a:r>
            <a:br>
              <a:rPr lang="en-US" dirty="0"/>
            </a:br>
            <a:r>
              <a:rPr lang="en-US" dirty="0"/>
              <a:t>#more than just one line</a:t>
            </a:r>
            <a:br>
              <a:rPr lang="en-US" dirty="0"/>
            </a:br>
            <a:r>
              <a:rPr lang="en-US" dirty="0"/>
              <a:t>print("Hello, World</a:t>
            </a:r>
            <a:r>
              <a:rPr lang="en-US" dirty="0" smtClean="0"/>
              <a:t>!")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0980" y="4418876"/>
            <a:ext cx="117500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i="1" dirty="0" smtClean="0"/>
              <a:t>Comments </a:t>
            </a:r>
            <a:r>
              <a:rPr lang="en-US" sz="2800" i="1" dirty="0"/>
              <a:t>start with # and are notes ignored by the computer</a:t>
            </a:r>
            <a:r>
              <a:rPr lang="en-US" sz="2800" i="1" dirty="0" smtClean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i="1" dirty="0"/>
              <a:t>Python is case sensitive and uses indentation (spaces) to mark code blocks.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i="1" dirty="0"/>
          </a:p>
        </p:txBody>
      </p:sp>
      <p:sp>
        <p:nvSpPr>
          <p:cNvPr id="5" name="Rectangle 4"/>
          <p:cNvSpPr/>
          <p:nvPr/>
        </p:nvSpPr>
        <p:spPr>
          <a:xfrm>
            <a:off x="3624073" y="411574"/>
            <a:ext cx="54768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u="sng" dirty="0">
                <a:solidFill>
                  <a:srgbClr val="FF0000"/>
                </a:solidFill>
              </a:rPr>
              <a:t>My First Python Program</a:t>
            </a:r>
            <a:endParaRPr lang="en-US" sz="36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948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</a:rPr>
              <a:t>Python </a:t>
            </a:r>
            <a:r>
              <a:rPr lang="en-US" b="1" u="sng" dirty="0" smtClean="0">
                <a:solidFill>
                  <a:srgbClr val="FF0000"/>
                </a:solidFill>
              </a:rPr>
              <a:t>Program</a:t>
            </a:r>
            <a:r>
              <a:rPr lang="en-US" sz="4000" b="1" u="sng" dirty="0" smtClean="0">
                <a:solidFill>
                  <a:srgbClr val="FF0000"/>
                </a:solidFill>
              </a:rPr>
              <a:t> –Variable Creation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677" y="2286753"/>
            <a:ext cx="2484163" cy="23677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92040" y="3470612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A variable is created the moment you first assign a value to it.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69623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EXAMPLE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 Variable 'x' stores the integer value 5</a:t>
            </a:r>
          </a:p>
          <a:p>
            <a:pPr marL="0" indent="0">
              <a:buNone/>
            </a:pPr>
            <a:r>
              <a:rPr lang="en-US" dirty="0" smtClean="0"/>
              <a:t>x </a:t>
            </a:r>
            <a:r>
              <a:rPr lang="en-US" dirty="0"/>
              <a:t>= 5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# Variable 'name' stores the string "Samantha"</a:t>
            </a:r>
          </a:p>
          <a:p>
            <a:pPr marL="0" indent="0">
              <a:buNone/>
            </a:pPr>
            <a:r>
              <a:rPr lang="en-US" dirty="0" smtClean="0"/>
              <a:t>name </a:t>
            </a:r>
            <a:r>
              <a:rPr lang="en-US" dirty="0"/>
              <a:t>= "Samantha" 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print(x)</a:t>
            </a:r>
          </a:p>
          <a:p>
            <a:pPr marL="0" indent="0">
              <a:buNone/>
            </a:pPr>
            <a:r>
              <a:rPr lang="en-US" dirty="0"/>
              <a:t>print(name)</a:t>
            </a:r>
          </a:p>
        </p:txBody>
      </p:sp>
    </p:spTree>
    <p:extLst>
      <p:ext uri="{BB962C8B-B14F-4D97-AF65-F5344CB8AC3E}">
        <p14:creationId xmlns:p14="http://schemas.microsoft.com/office/powerpoint/2010/main" val="5054534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302323-5514-4210-B56F-1AAE52E28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" y="180975"/>
            <a:ext cx="11830050" cy="6600825"/>
          </a:xfrm>
        </p:spPr>
        <p:txBody>
          <a:bodyPr>
            <a:normAutofit/>
          </a:bodyPr>
          <a:lstStyle/>
          <a:p>
            <a:r>
              <a:rPr lang="en-US" sz="4000" b="1" u="sng" dirty="0">
                <a:solidFill>
                  <a:srgbClr val="FF0000"/>
                </a:solidFill>
              </a:rPr>
              <a:t>Python Program- </a:t>
            </a:r>
            <a:r>
              <a:rPr lang="en-US" sz="4000" b="1" u="sng" dirty="0" smtClean="0">
                <a:solidFill>
                  <a:srgbClr val="FF0000"/>
                </a:solidFill>
              </a:rPr>
              <a:t>Multiple </a:t>
            </a:r>
            <a:r>
              <a:rPr lang="en-US" sz="4000" b="1" u="sng" dirty="0">
                <a:solidFill>
                  <a:srgbClr val="FF0000"/>
                </a:solidFill>
              </a:rPr>
              <a:t>Variables Creation </a:t>
            </a:r>
          </a:p>
          <a:p>
            <a:endParaRPr lang="en-US" sz="3600" b="1" u="sng" dirty="0">
              <a:solidFill>
                <a:srgbClr val="FF0000"/>
              </a:solidFill>
            </a:endParaRPr>
          </a:p>
          <a:p>
            <a:pPr algn="l"/>
            <a:r>
              <a:rPr lang="en-US" sz="3600" b="1" dirty="0"/>
              <a:t>Examples:</a:t>
            </a:r>
          </a:p>
          <a:p>
            <a:pPr algn="l"/>
            <a:endParaRPr lang="en-US" sz="3600" b="1" dirty="0"/>
          </a:p>
          <a:p>
            <a:pPr algn="l"/>
            <a:r>
              <a:rPr lang="en-US" sz="3600" dirty="0"/>
              <a:t>	age = 15          			# Integer</a:t>
            </a:r>
          </a:p>
          <a:p>
            <a:pPr algn="l"/>
            <a:r>
              <a:rPr lang="en-US" sz="3600" dirty="0"/>
              <a:t>	temperature = 36.6  	# Float</a:t>
            </a:r>
          </a:p>
          <a:p>
            <a:pPr algn="l"/>
            <a:r>
              <a:rPr lang="en-US" sz="3600" dirty="0"/>
              <a:t>	name = "Anya"     		# String</a:t>
            </a:r>
          </a:p>
          <a:p>
            <a:pPr algn="l"/>
            <a:r>
              <a:rPr lang="en-US" sz="3600" dirty="0"/>
              <a:t>	</a:t>
            </a:r>
            <a:r>
              <a:rPr lang="en-US" sz="3600" dirty="0" err="1"/>
              <a:t>is_student</a:t>
            </a:r>
            <a:r>
              <a:rPr lang="en-US" sz="3600" dirty="0"/>
              <a:t> = True 		# Boolean</a:t>
            </a:r>
          </a:p>
        </p:txBody>
      </p:sp>
    </p:spTree>
    <p:extLst>
      <p:ext uri="{BB962C8B-B14F-4D97-AF65-F5344CB8AC3E}">
        <p14:creationId xmlns:p14="http://schemas.microsoft.com/office/powerpoint/2010/main" val="378770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F4213F-3413-8847-A11D-51BCC285A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Many Values to Multiple Variables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71A60DD-DFEB-D64F-BA00-AC5C2511E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Python allows you to assign values to multiple variables in one </a:t>
            </a:r>
            <a:r>
              <a:rPr lang="en-US" sz="3600" dirty="0" smtClean="0"/>
              <a:t>line</a:t>
            </a:r>
          </a:p>
          <a:p>
            <a:endParaRPr lang="en-US" sz="3600" dirty="0"/>
          </a:p>
          <a:p>
            <a:r>
              <a:rPr lang="en-US" sz="3600" dirty="0"/>
              <a:t>Example</a:t>
            </a:r>
          </a:p>
          <a:p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1767840" y="4001294"/>
            <a:ext cx="728472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x, y, z = "Orange", "Banana", "Cherry"</a:t>
            </a:r>
            <a:br>
              <a:rPr lang="en-US" sz="3200" dirty="0"/>
            </a:br>
            <a:r>
              <a:rPr lang="en-US" sz="3200" dirty="0"/>
              <a:t>print(x)</a:t>
            </a:r>
            <a:br>
              <a:rPr lang="en-US" sz="3200" dirty="0"/>
            </a:br>
            <a:r>
              <a:rPr lang="en-US" sz="3200" dirty="0"/>
              <a:t>print(y)</a:t>
            </a:r>
            <a:br>
              <a:rPr lang="en-US" sz="3200" dirty="0"/>
            </a:br>
            <a:r>
              <a:rPr lang="en-US" sz="3200" dirty="0"/>
              <a:t>print(z)</a:t>
            </a:r>
          </a:p>
        </p:txBody>
      </p:sp>
    </p:spTree>
    <p:extLst>
      <p:ext uri="{BB962C8B-B14F-4D97-AF65-F5344CB8AC3E}">
        <p14:creationId xmlns:p14="http://schemas.microsoft.com/office/powerpoint/2010/main" val="3688792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41CC1F5-DC60-5746-8FCE-367EC88F8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One Value to Multiple Variables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CA7EE6F-8B04-4543-900D-FE8240260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08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Y</a:t>
            </a:r>
            <a:r>
              <a:rPr lang="en-US" sz="3200" dirty="0" smtClean="0"/>
              <a:t>ou </a:t>
            </a:r>
            <a:r>
              <a:rPr lang="en-US" sz="3200" dirty="0"/>
              <a:t>can assign the </a:t>
            </a:r>
            <a:r>
              <a:rPr lang="en-US" sz="3200" i="1" dirty="0"/>
              <a:t>same</a:t>
            </a:r>
            <a:r>
              <a:rPr lang="en-US" sz="3200" dirty="0"/>
              <a:t> value to multiple variables in one </a:t>
            </a:r>
            <a:r>
              <a:rPr lang="en-US" sz="3200" dirty="0" smtClean="0"/>
              <a:t>line.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Example</a:t>
            </a:r>
          </a:p>
          <a:p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2560320" y="3590836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x = y = z = "Orange"</a:t>
            </a:r>
            <a:br>
              <a:rPr lang="en-US" sz="2800" dirty="0"/>
            </a:br>
            <a:r>
              <a:rPr lang="en-US" sz="2800" dirty="0"/>
              <a:t>print(x)</a:t>
            </a:r>
            <a:br>
              <a:rPr lang="en-US" sz="2800" dirty="0"/>
            </a:br>
            <a:r>
              <a:rPr lang="en-US" sz="2800" dirty="0"/>
              <a:t>print(y)</a:t>
            </a:r>
            <a:br>
              <a:rPr lang="en-US" sz="2800" dirty="0"/>
            </a:br>
            <a:r>
              <a:rPr lang="en-US" sz="2800" dirty="0"/>
              <a:t>print(z)</a:t>
            </a:r>
          </a:p>
        </p:txBody>
      </p:sp>
    </p:spTree>
    <p:extLst>
      <p:ext uri="{BB962C8B-B14F-4D97-AF65-F5344CB8AC3E}">
        <p14:creationId xmlns:p14="http://schemas.microsoft.com/office/powerpoint/2010/main" val="2643564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TYPING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8786" y="2595372"/>
            <a:ext cx="4523689" cy="15956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86246" y="1982200"/>
            <a:ext cx="64184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euclid_circular_a"/>
              </a:rPr>
              <a:t>Changing the Value of a Variable in Python</a:t>
            </a:r>
            <a:endParaRPr lang="en-US" sz="2400" b="1" i="0" dirty="0">
              <a:effectLst/>
              <a:latin typeface="euclid_circular_a"/>
            </a:endParaRPr>
          </a:p>
        </p:txBody>
      </p:sp>
    </p:spTree>
    <p:extLst>
      <p:ext uri="{BB962C8B-B14F-4D97-AF65-F5344CB8AC3E}">
        <p14:creationId xmlns:p14="http://schemas.microsoft.com/office/powerpoint/2010/main" val="1937570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E14A5C-FAFC-7B47-9C12-5737BE42C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Output Variables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5F1CA26-085F-CD4C-B456-DF3E0EF06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486"/>
            <a:ext cx="11094720" cy="510975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Python print() function is often used to output variables.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Example</a:t>
            </a:r>
            <a:endParaRPr lang="en-US" dirty="0"/>
          </a:p>
          <a:p>
            <a:pPr marL="914400" lvl="2" indent="0">
              <a:buNone/>
            </a:pPr>
            <a:r>
              <a:rPr lang="en-US" sz="3000" dirty="0">
                <a:solidFill>
                  <a:schemeClr val="accent1">
                    <a:lumMod val="50000"/>
                  </a:schemeClr>
                </a:solidFill>
              </a:rPr>
              <a:t>x = "Python is awesome"</a:t>
            </a:r>
            <a:br>
              <a:rPr lang="en-US" sz="3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3000" dirty="0">
                <a:solidFill>
                  <a:schemeClr val="accent1">
                    <a:lumMod val="50000"/>
                  </a:schemeClr>
                </a:solidFill>
              </a:rPr>
              <a:t>print(x</a:t>
            </a: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the print() function, you output multiple variables, separated by a comma:</a:t>
            </a:r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sz="3000" dirty="0">
                <a:solidFill>
                  <a:schemeClr val="accent1">
                    <a:lumMod val="50000"/>
                  </a:schemeClr>
                </a:solidFill>
              </a:rPr>
              <a:t>x = "Python"</a:t>
            </a:r>
            <a:br>
              <a:rPr lang="en-US" sz="3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3000" dirty="0">
                <a:solidFill>
                  <a:schemeClr val="accent1">
                    <a:lumMod val="50000"/>
                  </a:schemeClr>
                </a:solidFill>
              </a:rPr>
              <a:t>y = "is"</a:t>
            </a:r>
            <a:br>
              <a:rPr lang="en-US" sz="3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3000" dirty="0">
                <a:solidFill>
                  <a:schemeClr val="accent1">
                    <a:lumMod val="50000"/>
                  </a:schemeClr>
                </a:solidFill>
              </a:rPr>
              <a:t>z = "awesome"</a:t>
            </a:r>
            <a:br>
              <a:rPr lang="en-US" sz="3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3000" dirty="0">
                <a:solidFill>
                  <a:schemeClr val="accent1">
                    <a:lumMod val="50000"/>
                  </a:schemeClr>
                </a:solidFill>
              </a:rPr>
              <a:t>print(x, y, z)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8141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A721A4-F864-B245-85B4-E4EE16D6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33253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Displaying Multiple Variables in print statement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AC1AA2D-4084-404A-936C-74FA077D1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</a:t>
            </a:r>
            <a:r>
              <a:rPr lang="en-US" dirty="0" smtClean="0"/>
              <a:t>can </a:t>
            </a:r>
            <a:r>
              <a:rPr lang="en-US" dirty="0"/>
              <a:t>use the + operator to output multiple variables:</a:t>
            </a:r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x = "Python  "</a:t>
            </a:r>
            <a:br>
              <a:rPr lang="en-US" sz="2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y = "is  "</a:t>
            </a:r>
            <a:br>
              <a:rPr lang="en-US" sz="2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z = "awesome"</a:t>
            </a:r>
            <a:br>
              <a:rPr lang="en-US" sz="2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print(x + y + z)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Notice </a:t>
            </a:r>
            <a:r>
              <a:rPr lang="en-US" dirty="0"/>
              <a:t>the space character after "Python " and "is ", without them the result would be "</a:t>
            </a:r>
            <a:r>
              <a:rPr lang="en-US" dirty="0" err="1"/>
              <a:t>Pythonisawesome</a:t>
            </a:r>
            <a:r>
              <a:rPr lang="en-US" dirty="0"/>
              <a:t>".</a:t>
            </a:r>
          </a:p>
        </p:txBody>
      </p:sp>
      <p:sp>
        <p:nvSpPr>
          <p:cNvPr id="4" name="Rectangle 3"/>
          <p:cNvSpPr/>
          <p:nvPr/>
        </p:nvSpPr>
        <p:spPr>
          <a:xfrm>
            <a:off x="7525396" y="3206234"/>
            <a:ext cx="2742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Concatenation: +</a:t>
            </a:r>
            <a:r>
              <a:rPr lang="en-US" b="1" dirty="0">
                <a:solidFill>
                  <a:srgbClr val="FF0000"/>
                </a:solidFill>
              </a:rPr>
              <a:t> operator </a:t>
            </a:r>
          </a:p>
        </p:txBody>
      </p:sp>
    </p:spTree>
    <p:extLst>
      <p:ext uri="{BB962C8B-B14F-4D97-AF65-F5344CB8AC3E}">
        <p14:creationId xmlns:p14="http://schemas.microsoft.com/office/powerpoint/2010/main" val="13730386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AB89DCC-C659-1240-9569-4EC866F69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335280"/>
            <a:ext cx="10988040" cy="62396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numbers, the + character works as a mathematical operator:</a:t>
            </a:r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x = 5</a:t>
            </a:r>
            <a:br>
              <a:rPr lang="en-US" sz="2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y = 10</a:t>
            </a:r>
            <a:br>
              <a:rPr lang="en-US" sz="2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print(x + y)</a:t>
            </a:r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the print() function, when you try to combine a string and a number with the + operator, Python will give you an error:</a:t>
            </a:r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x = 5</a:t>
            </a:r>
            <a:br>
              <a:rPr lang="en-US" sz="2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y = "John"</a:t>
            </a:r>
            <a:br>
              <a:rPr lang="en-US" sz="2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print(x + y)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TypeError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dirty="0"/>
              <a:t>unsupported operand type(s) for +: '</a:t>
            </a:r>
            <a:r>
              <a:rPr lang="en-US" dirty="0" err="1"/>
              <a:t>int</a:t>
            </a:r>
            <a:r>
              <a:rPr lang="en-US" dirty="0"/>
              <a:t>' and '</a:t>
            </a:r>
            <a:r>
              <a:rPr lang="en-US" dirty="0" err="1"/>
              <a:t>str</a:t>
            </a:r>
            <a:r>
              <a:rPr lang="en-US" dirty="0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4063333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DBAF661-7CA8-8949-AC37-F84F79EDB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best way to output multiple variables in the print() function is to separate them with commas, which even support different data types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x = 5</a:t>
            </a:r>
            <a:br>
              <a:rPr lang="en-US" sz="2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y = "John"</a:t>
            </a:r>
            <a:br>
              <a:rPr lang="en-US" sz="2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print(x, y)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60911" y="623054"/>
            <a:ext cx="95147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Python Program- </a:t>
            </a:r>
            <a:r>
              <a:rPr lang="en-US" sz="3200" b="1" u="sng" dirty="0" err="1">
                <a:solidFill>
                  <a:srgbClr val="FF0000"/>
                </a:solidFill>
              </a:rPr>
              <a:t>Mutliple</a:t>
            </a:r>
            <a:r>
              <a:rPr lang="en-US" sz="3200" b="1" u="sng" dirty="0">
                <a:solidFill>
                  <a:srgbClr val="FF0000"/>
                </a:solidFill>
              </a:rPr>
              <a:t> Variables Creation &amp; Display</a:t>
            </a:r>
          </a:p>
        </p:txBody>
      </p:sp>
    </p:spTree>
    <p:extLst>
      <p:ext uri="{BB962C8B-B14F-4D97-AF65-F5344CB8AC3E}">
        <p14:creationId xmlns:p14="http://schemas.microsoft.com/office/powerpoint/2010/main" val="2815628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302323-5514-4210-B56F-1AAE52E28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" y="180975"/>
            <a:ext cx="11830050" cy="6600825"/>
          </a:xfrm>
        </p:spPr>
        <p:txBody>
          <a:bodyPr>
            <a:normAutofit/>
          </a:bodyPr>
          <a:lstStyle/>
          <a:p>
            <a:r>
              <a:rPr lang="en-US" sz="4000" b="1" u="sng" dirty="0">
                <a:solidFill>
                  <a:srgbClr val="FF0000"/>
                </a:solidFill>
              </a:rPr>
              <a:t>Python Program- </a:t>
            </a:r>
            <a:r>
              <a:rPr lang="en-US" sz="4000" b="1" u="sng" dirty="0" err="1">
                <a:solidFill>
                  <a:srgbClr val="FF0000"/>
                </a:solidFill>
              </a:rPr>
              <a:t>Mutliple</a:t>
            </a:r>
            <a:r>
              <a:rPr lang="en-US" sz="4000" b="1" u="sng" dirty="0">
                <a:solidFill>
                  <a:srgbClr val="FF0000"/>
                </a:solidFill>
              </a:rPr>
              <a:t> Variables Creation </a:t>
            </a:r>
          </a:p>
          <a:p>
            <a:endParaRPr lang="en-US" sz="3600" b="1" u="sng" dirty="0">
              <a:solidFill>
                <a:srgbClr val="FF0000"/>
              </a:solidFill>
            </a:endParaRPr>
          </a:p>
          <a:p>
            <a:pPr algn="l"/>
            <a:r>
              <a:rPr lang="en-US" sz="3600" b="1" dirty="0"/>
              <a:t>Examples:</a:t>
            </a:r>
          </a:p>
          <a:p>
            <a:pPr algn="l"/>
            <a:endParaRPr lang="en-US" sz="3600" b="1" dirty="0"/>
          </a:p>
          <a:p>
            <a:pPr algn="l"/>
            <a:r>
              <a:rPr lang="en-US" sz="3600" dirty="0"/>
              <a:t>	age = 15          			# Integer</a:t>
            </a:r>
          </a:p>
          <a:p>
            <a:pPr algn="l"/>
            <a:r>
              <a:rPr lang="en-US" sz="3600" dirty="0"/>
              <a:t>	temperature = 36.6  	# Float</a:t>
            </a:r>
          </a:p>
          <a:p>
            <a:pPr algn="l"/>
            <a:r>
              <a:rPr lang="en-US" sz="3600" dirty="0"/>
              <a:t>	name = "Anya"     		# String</a:t>
            </a:r>
          </a:p>
          <a:p>
            <a:pPr algn="l"/>
            <a:r>
              <a:rPr lang="en-US" sz="3600" dirty="0"/>
              <a:t>	</a:t>
            </a:r>
            <a:r>
              <a:rPr lang="en-US" sz="3600" dirty="0" err="1"/>
              <a:t>is_student</a:t>
            </a:r>
            <a:r>
              <a:rPr lang="en-US" sz="3600" dirty="0"/>
              <a:t> = True 		# Boolean</a:t>
            </a:r>
          </a:p>
        </p:txBody>
      </p:sp>
    </p:spTree>
    <p:extLst>
      <p:ext uri="{BB962C8B-B14F-4D97-AF65-F5344CB8AC3E}">
        <p14:creationId xmlns:p14="http://schemas.microsoft.com/office/powerpoint/2010/main" val="16451986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302323-5514-4210-B56F-1AAE52E28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" y="180975"/>
            <a:ext cx="11830050" cy="6600825"/>
          </a:xfrm>
        </p:spPr>
        <p:txBody>
          <a:bodyPr>
            <a:normAutofit lnSpcReduction="10000"/>
          </a:bodyPr>
          <a:lstStyle/>
          <a:p>
            <a:r>
              <a:rPr lang="en-US" sz="4000" b="1" u="sng" dirty="0" smtClean="0">
                <a:solidFill>
                  <a:srgbClr val="FF0000"/>
                </a:solidFill>
              </a:rPr>
              <a:t>Python Program- </a:t>
            </a:r>
            <a:r>
              <a:rPr lang="en-US" sz="4000" b="1" u="sng" dirty="0" err="1" smtClean="0">
                <a:solidFill>
                  <a:srgbClr val="FF0000"/>
                </a:solidFill>
              </a:rPr>
              <a:t>Mutliple</a:t>
            </a:r>
            <a:r>
              <a:rPr lang="en-US" sz="4000" b="1" u="sng" dirty="0" smtClean="0">
                <a:solidFill>
                  <a:srgbClr val="FF0000"/>
                </a:solidFill>
              </a:rPr>
              <a:t> Variables Creation &amp; Display</a:t>
            </a:r>
            <a:endParaRPr lang="en-US" sz="4000" b="1" u="sng" dirty="0">
              <a:solidFill>
                <a:srgbClr val="FF0000"/>
              </a:solidFill>
            </a:endParaRPr>
          </a:p>
          <a:p>
            <a:endParaRPr lang="en-US" sz="3600" b="1" u="sng" dirty="0">
              <a:solidFill>
                <a:srgbClr val="FF0000"/>
              </a:solidFill>
            </a:endParaRPr>
          </a:p>
          <a:p>
            <a:pPr algn="l"/>
            <a:r>
              <a:rPr lang="en-US" sz="3600" b="1" dirty="0"/>
              <a:t>Examples:</a:t>
            </a:r>
          </a:p>
          <a:p>
            <a:pPr algn="l"/>
            <a:r>
              <a:rPr lang="en-US" sz="3600" dirty="0"/>
              <a:t>	age = 15          			# Integer</a:t>
            </a:r>
          </a:p>
          <a:p>
            <a:pPr algn="l"/>
            <a:r>
              <a:rPr lang="en-US" sz="3600" dirty="0"/>
              <a:t>	temperature = 36.6  	# Float</a:t>
            </a:r>
          </a:p>
          <a:p>
            <a:pPr algn="l"/>
            <a:r>
              <a:rPr lang="en-US" sz="3600" dirty="0"/>
              <a:t>	name = "Anya"     		# String</a:t>
            </a:r>
          </a:p>
          <a:p>
            <a:pPr algn="l"/>
            <a:r>
              <a:rPr lang="en-US" sz="3600" dirty="0"/>
              <a:t>	</a:t>
            </a:r>
            <a:r>
              <a:rPr lang="en-US" sz="3600" dirty="0" err="1"/>
              <a:t>Is_student</a:t>
            </a:r>
            <a:r>
              <a:rPr lang="en-US" sz="3600" dirty="0"/>
              <a:t> = True 		# Boolean</a:t>
            </a:r>
          </a:p>
          <a:p>
            <a:pPr algn="l"/>
            <a:endParaRPr lang="en-US" sz="3600" dirty="0"/>
          </a:p>
          <a:p>
            <a:pPr algn="l"/>
            <a:r>
              <a:rPr lang="en-US" sz="3600" dirty="0"/>
              <a:t>	print(name, "is", age, "years old")</a:t>
            </a:r>
          </a:p>
          <a:p>
            <a:pPr algn="l"/>
            <a:endParaRPr lang="en-US" sz="3600" dirty="0"/>
          </a:p>
          <a:p>
            <a:pPr algn="l"/>
            <a:r>
              <a:rPr lang="en-US" sz="3400" u="sng" dirty="0"/>
              <a:t>Output:</a:t>
            </a:r>
            <a:r>
              <a:rPr lang="en-US" sz="3400" dirty="0"/>
              <a:t>  Anya is 15 years old</a:t>
            </a:r>
          </a:p>
          <a:p>
            <a:pPr algn="l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318066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Type Casting a </a:t>
            </a:r>
            <a:r>
              <a:rPr lang="en-US" b="1" dirty="0" smtClean="0">
                <a:solidFill>
                  <a:srgbClr val="FF0000"/>
                </a:solidFill>
              </a:rPr>
              <a:t>Variable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Type casting refers to the process of converting the value of one data type into another. </a:t>
            </a:r>
            <a:endParaRPr lang="en-US" sz="3600" dirty="0" smtClean="0"/>
          </a:p>
          <a:p>
            <a:endParaRPr lang="en-US" sz="3600" dirty="0"/>
          </a:p>
          <a:p>
            <a:pPr fontAlgn="base"/>
            <a:r>
              <a:rPr lang="en-US" sz="3600" b="1" dirty="0"/>
              <a:t>Basic Casting Functions</a:t>
            </a:r>
          </a:p>
          <a:p>
            <a:pPr lvl="1" fontAlgn="base"/>
            <a:r>
              <a:rPr lang="en-US" sz="3200" b="1" u="sng" dirty="0" err="1"/>
              <a:t>int</a:t>
            </a:r>
            <a:r>
              <a:rPr lang="en-US" sz="3200" b="1" u="sng" dirty="0"/>
              <a:t>()</a:t>
            </a:r>
            <a:r>
              <a:rPr lang="en-US" sz="3200" b="1" dirty="0"/>
              <a:t> </a:t>
            </a:r>
            <a:r>
              <a:rPr lang="en-US" sz="3200" dirty="0"/>
              <a:t>- Converts compatible values to an integer.</a:t>
            </a:r>
          </a:p>
          <a:p>
            <a:pPr lvl="1" fontAlgn="base"/>
            <a:r>
              <a:rPr lang="en-US" sz="3200" b="1" u="sng" dirty="0"/>
              <a:t>float()</a:t>
            </a:r>
            <a:r>
              <a:rPr lang="en-US" sz="3200" b="1" dirty="0"/>
              <a:t> </a:t>
            </a:r>
            <a:r>
              <a:rPr lang="en-US" sz="3200" dirty="0"/>
              <a:t>- Transforms values into floating-point numbers.</a:t>
            </a:r>
          </a:p>
          <a:p>
            <a:pPr lvl="1" fontAlgn="base"/>
            <a:r>
              <a:rPr lang="en-US" sz="3200" b="1" u="sng" dirty="0" err="1"/>
              <a:t>str</a:t>
            </a:r>
            <a:r>
              <a:rPr lang="en-US" sz="3200" b="1" u="sng" dirty="0" smtClean="0"/>
              <a:t>()</a:t>
            </a:r>
            <a:r>
              <a:rPr lang="en-US" sz="3200" dirty="0" smtClean="0"/>
              <a:t>- </a:t>
            </a:r>
            <a:r>
              <a:rPr lang="en-US" sz="3200" dirty="0"/>
              <a:t>Converts any data type into a string.</a:t>
            </a:r>
          </a:p>
          <a:p>
            <a:pPr lvl="1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33375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EXAMPLE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0000" y="1385888"/>
            <a:ext cx="7347200" cy="513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85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Whitespace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924800" cy="5334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Whitespace is meaningful in Python: especially indentation and placement of newlines</a:t>
            </a:r>
          </a:p>
          <a:p>
            <a:pPr marL="0" indent="0"/>
            <a:r>
              <a:rPr lang="en-US" altLang="en-US">
                <a:ea typeface="ＭＳ Ｐゴシック" panose="020B0600070205080204" pitchFamily="34" charset="-128"/>
              </a:rPr>
              <a:t>Use a newline to end a line of code</a:t>
            </a:r>
          </a:p>
          <a:p>
            <a:pPr marL="636588" lvl="2" indent="-236538">
              <a:buNone/>
            </a:pPr>
            <a:r>
              <a:rPr lang="en-US" altLang="en-US" smtClean="0">
                <a:ea typeface="ＭＳ Ｐゴシック" panose="020B0600070205080204" pitchFamily="34" charset="-128"/>
              </a:rPr>
              <a:t>Use </a:t>
            </a:r>
            <a:r>
              <a:rPr lang="en-US" altLang="en-US" smtClean="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\ </a:t>
            </a:r>
            <a:r>
              <a:rPr lang="en-US" altLang="en-US" smtClean="0">
                <a:ea typeface="ＭＳ Ｐゴシック" panose="020B0600070205080204" pitchFamily="34" charset="-128"/>
              </a:rPr>
              <a:t>when must go to next line prematurely</a:t>
            </a:r>
          </a:p>
          <a:p>
            <a:pPr marL="0" indent="0"/>
            <a:r>
              <a:rPr lang="en-US" altLang="en-US">
                <a:ea typeface="ＭＳ Ｐゴシック" panose="020B0600070205080204" pitchFamily="34" charset="-128"/>
              </a:rPr>
              <a:t>No braces </a:t>
            </a:r>
            <a:r>
              <a:rPr lang="en-US" altLang="en-US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{}</a:t>
            </a:r>
            <a:r>
              <a:rPr lang="en-US" altLang="en-US">
                <a:ea typeface="ＭＳ Ｐゴシック" panose="020B0600070205080204" pitchFamily="34" charset="-128"/>
              </a:rPr>
              <a:t> to mark blocks of code, use </a:t>
            </a:r>
            <a:r>
              <a:rPr lang="en-US" altLang="en-US" i="1">
                <a:ea typeface="ＭＳ Ｐゴシック" panose="020B0600070205080204" pitchFamily="34" charset="-128"/>
              </a:rPr>
              <a:t>consistent</a:t>
            </a:r>
            <a:r>
              <a:rPr lang="en-US" altLang="en-US">
                <a:ea typeface="ＭＳ Ｐゴシック" panose="020B0600070205080204" pitchFamily="34" charset="-128"/>
              </a:rPr>
              <a:t> indentation instead</a:t>
            </a:r>
          </a:p>
          <a:p>
            <a:pPr marL="636588" lvl="2" indent="-236538"/>
            <a:r>
              <a:rPr lang="en-US" altLang="en-US" smtClean="0">
                <a:ea typeface="ＭＳ Ｐゴシック" panose="020B0600070205080204" pitchFamily="34" charset="-128"/>
              </a:rPr>
              <a:t>First line with </a:t>
            </a:r>
            <a:r>
              <a:rPr lang="en-US" altLang="en-US" i="1" smtClean="0">
                <a:ea typeface="ＭＳ Ｐゴシック" panose="020B0600070205080204" pitchFamily="34" charset="-128"/>
              </a:rPr>
              <a:t>less</a:t>
            </a:r>
            <a:r>
              <a:rPr lang="en-US" altLang="en-US" smtClean="0">
                <a:ea typeface="ＭＳ Ｐゴシック" panose="020B0600070205080204" pitchFamily="34" charset="-128"/>
              </a:rPr>
              <a:t> indentation is outside of the block</a:t>
            </a:r>
          </a:p>
          <a:p>
            <a:pPr marL="636588" lvl="2" indent="-236538"/>
            <a:r>
              <a:rPr lang="en-US" altLang="en-US" smtClean="0">
                <a:ea typeface="ＭＳ Ｐゴシック" panose="020B0600070205080204" pitchFamily="34" charset="-128"/>
              </a:rPr>
              <a:t>First line with </a:t>
            </a:r>
            <a:r>
              <a:rPr lang="en-US" altLang="en-US" i="1" smtClean="0">
                <a:ea typeface="ＭＳ Ｐゴシック" panose="020B0600070205080204" pitchFamily="34" charset="-128"/>
              </a:rPr>
              <a:t>more</a:t>
            </a:r>
            <a:r>
              <a:rPr lang="en-US" altLang="en-US" smtClean="0">
                <a:ea typeface="ＭＳ Ｐゴシック" panose="020B0600070205080204" pitchFamily="34" charset="-128"/>
              </a:rPr>
              <a:t> indentation starts a nested block</a:t>
            </a:r>
          </a:p>
          <a:p>
            <a:pPr marL="0" indent="0"/>
            <a:r>
              <a:rPr lang="en-US" altLang="en-US">
                <a:ea typeface="ＭＳ Ｐゴシック" panose="020B0600070205080204" pitchFamily="34" charset="-128"/>
              </a:rPr>
              <a:t>Colons start of a new block in many constructs, e.g. function definitions, then clauses</a:t>
            </a:r>
          </a:p>
        </p:txBody>
      </p:sp>
    </p:spTree>
    <p:extLst>
      <p:ext uri="{BB962C8B-B14F-4D97-AF65-F5344CB8AC3E}">
        <p14:creationId xmlns:p14="http://schemas.microsoft.com/office/powerpoint/2010/main" val="9587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1224</TotalTime>
  <Words>1043</Words>
  <Application>Microsoft Office PowerPoint</Application>
  <PresentationFormat>Widescreen</PresentationFormat>
  <Paragraphs>246</Paragraphs>
  <Slides>43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9" baseType="lpstr">
      <vt:lpstr>ＭＳ Ｐゴシック</vt:lpstr>
      <vt:lpstr>-apple-system</vt:lpstr>
      <vt:lpstr>Arial</vt:lpstr>
      <vt:lpstr>ArialMT</vt:lpstr>
      <vt:lpstr>Calibri</vt:lpstr>
      <vt:lpstr>Calibri Light</vt:lpstr>
      <vt:lpstr>Courier New</vt:lpstr>
      <vt:lpstr>Droid Sans Mono</vt:lpstr>
      <vt:lpstr>euclid_circular_a</vt:lpstr>
      <vt:lpstr>Lucida Sans Typewriter</vt:lpstr>
      <vt:lpstr>Roboto</vt:lpstr>
      <vt:lpstr>Roboto Mono</vt:lpstr>
      <vt:lpstr>Segoe UI</vt:lpstr>
      <vt:lpstr>SF Mono</vt:lpstr>
      <vt:lpstr>Times New Roman</vt:lpstr>
      <vt:lpstr>Office Theme</vt:lpstr>
      <vt:lpstr>The Basics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Datatypes</vt:lpstr>
      <vt:lpstr>PowerPoint Presentation</vt:lpstr>
      <vt:lpstr>PowerPoint Presentation</vt:lpstr>
      <vt:lpstr>PowerPoint Presentation</vt:lpstr>
      <vt:lpstr>Variable Names </vt:lpstr>
      <vt:lpstr>PowerPoint Presentation</vt:lpstr>
      <vt:lpstr>Naming Rules</vt:lpstr>
      <vt:lpstr>Enough to Understand the Code</vt:lpstr>
      <vt:lpstr>check</vt:lpstr>
      <vt:lpstr>Multi Words Variable Names </vt:lpstr>
      <vt:lpstr>VARIABLE NAMING</vt:lpstr>
      <vt:lpstr>Assignment</vt:lpstr>
      <vt:lpstr>Assignment</vt:lpstr>
      <vt:lpstr>Comments</vt:lpstr>
      <vt:lpstr>Python Output</vt:lpstr>
      <vt:lpstr>EXAMPLE</vt:lpstr>
      <vt:lpstr>Python print() with end Parameter</vt:lpstr>
      <vt:lpstr>PowerPoint Presentation</vt:lpstr>
      <vt:lpstr>PowerPoint Presentation</vt:lpstr>
      <vt:lpstr>Python Program –Variable Creation</vt:lpstr>
      <vt:lpstr>EXAMPLE</vt:lpstr>
      <vt:lpstr>PowerPoint Presentation</vt:lpstr>
      <vt:lpstr>Many Values to Multiple Variables </vt:lpstr>
      <vt:lpstr>One Value to Multiple Variables </vt:lpstr>
      <vt:lpstr>DYNAMIC TYPING</vt:lpstr>
      <vt:lpstr>Output Variables </vt:lpstr>
      <vt:lpstr>Displaying Multiple Variables in print statement</vt:lpstr>
      <vt:lpstr>PowerPoint Presentation</vt:lpstr>
      <vt:lpstr>PowerPoint Presentation</vt:lpstr>
      <vt:lpstr>PowerPoint Presentation</vt:lpstr>
      <vt:lpstr>PowerPoint Presentation</vt:lpstr>
      <vt:lpstr>Type Casting a Variable</vt:lpstr>
      <vt:lpstr>EXAMPLE</vt:lpstr>
      <vt:lpstr>Whitespace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22</cp:revision>
  <dcterms:created xsi:type="dcterms:W3CDTF">2025-08-22T05:59:20Z</dcterms:created>
  <dcterms:modified xsi:type="dcterms:W3CDTF">2025-09-10T05:01:59Z</dcterms:modified>
</cp:coreProperties>
</file>