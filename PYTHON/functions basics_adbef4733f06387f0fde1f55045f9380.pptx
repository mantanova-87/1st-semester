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0" r:id="rId4"/>
    <p:sldId id="26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0F17B-F12D-4EE6-8D91-5A5D5418574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15747-B3EE-426D-92A3-5E1B71863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4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8E3DC-0B46-48CA-85FC-1799844C0218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95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1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79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3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5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2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9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1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6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0FB9D-3D0A-4066-8A80-584A4508F95D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D1269-2454-4CF9-BAE1-D7177B84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8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738414" y="5429264"/>
            <a:ext cx="6858080" cy="785818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WITH FUNCTIONS</a:t>
            </a:r>
            <a:endParaRPr lang="en-US" sz="4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2" descr="C:\Users\Sainik\Desktop\1375575119python artic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45446" y="1271568"/>
            <a:ext cx="6280543" cy="3514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3" descr="C:\Users\Sainik\Desktop\Python_logo-large.png"/>
          <p:cNvPicPr>
            <a:picLocks noChangeAspect="1" noChangeArrowheads="1"/>
          </p:cNvPicPr>
          <p:nvPr/>
        </p:nvPicPr>
        <p:blipFill>
          <a:blip r:embed="rId4" cstate="print">
            <a:lum bright="-23000" contrast="25000"/>
          </a:blip>
          <a:srcRect/>
          <a:stretch>
            <a:fillRect/>
          </a:stretch>
        </p:blipFill>
        <p:spPr bwMode="auto">
          <a:xfrm>
            <a:off x="9216239" y="0"/>
            <a:ext cx="2836424" cy="21331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572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667108" y="3214686"/>
            <a:ext cx="6000792" cy="785818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14350" indent="-514350" algn="ctr"/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Function?</a:t>
            </a:r>
          </a:p>
        </p:txBody>
      </p:sp>
    </p:spTree>
    <p:extLst>
      <p:ext uri="{BB962C8B-B14F-4D97-AF65-F5344CB8AC3E}">
        <p14:creationId xmlns:p14="http://schemas.microsoft.com/office/powerpoint/2010/main" val="399418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38348" y="285728"/>
            <a:ext cx="8286808" cy="78581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14350" indent="-514350" algn="ctr"/>
            <a:r>
              <a:rPr lang="en-I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Function?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238348" y="1714488"/>
            <a:ext cx="8286808" cy="4643470"/>
          </a:xfrm>
        </p:spPr>
        <p:txBody>
          <a:bodyPr>
            <a:noAutofit/>
          </a:bodyPr>
          <a:lstStyle/>
          <a:p>
            <a:pPr>
              <a:buNone/>
            </a:pP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algn="just">
              <a:buNone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 function is a group of statements that is executed when it is called from some point of the program.</a:t>
            </a:r>
          </a:p>
          <a:p>
            <a:pPr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</a:t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It’s a divide and conquer approach</a:t>
            </a:r>
            <a:endParaRPr lang="en-IN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algn="just"/>
            <a:endParaRPr lang="en-IN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algn="just">
              <a:buNone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		</a:t>
            </a:r>
            <a:r>
              <a:rPr lang="en-IN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</a:p>
        </p:txBody>
      </p:sp>
      <p:sp>
        <p:nvSpPr>
          <p:cNvPr id="4" name="Oval 3"/>
          <p:cNvSpPr/>
          <p:nvPr/>
        </p:nvSpPr>
        <p:spPr>
          <a:xfrm>
            <a:off x="1809720" y="2000240"/>
            <a:ext cx="857256" cy="785818"/>
          </a:xfrm>
          <a:prstGeom prst="ellipse">
            <a:avLst/>
          </a:prstGeom>
          <a:solidFill>
            <a:srgbClr val="7030A0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50800" dir="5400000" algn="ctr" rotWithShape="0">
              <a:schemeClr val="accent6">
                <a:lumMod val="60000"/>
                <a:lumOff val="40000"/>
              </a:schemeClr>
            </a:outerShdw>
          </a:effectLst>
          <a:scene3d>
            <a:camera prst="perspectiveRelaxed"/>
            <a:lightRig rig="threePt" dir="t"/>
          </a:scene3d>
          <a:sp3d extrusionH="254000">
            <a:bevelT w="508000" h="635000" prst="cross"/>
            <a:bevelB w="0" h="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2166910" y="4000504"/>
            <a:ext cx="857256" cy="714380"/>
          </a:xfrm>
          <a:prstGeom prst="ellipse">
            <a:avLst/>
          </a:prstGeom>
          <a:solidFill>
            <a:srgbClr val="FF0000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50800" dir="5400000" algn="ctr" rotWithShape="0">
              <a:schemeClr val="accent6">
                <a:lumMod val="60000"/>
                <a:lumOff val="40000"/>
              </a:schemeClr>
            </a:outerShdw>
          </a:effectLst>
          <a:scene3d>
            <a:camera prst="perspectiveRelaxed"/>
            <a:lightRig rig="threePt" dir="t"/>
          </a:scene3d>
          <a:sp3d extrusionH="254000">
            <a:bevelT w="508000" h="635000" prst="cross"/>
            <a:bevelB w="0" h="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12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9" t="-159"/>
          <a:stretch/>
        </p:blipFill>
        <p:spPr bwMode="auto">
          <a:xfrm>
            <a:off x="3239588" y="252549"/>
            <a:ext cx="6875961" cy="5914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8"/>
          <a:stretch/>
        </p:blipFill>
        <p:spPr bwMode="auto">
          <a:xfrm>
            <a:off x="2076450" y="587829"/>
            <a:ext cx="8039100" cy="5579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632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81356" y="2928934"/>
            <a:ext cx="6786610" cy="785818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</a:t>
            </a:r>
            <a:endParaRPr lang="en-IN" sz="3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803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95604" y="285728"/>
            <a:ext cx="6357982" cy="785818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</a:t>
            </a:r>
            <a:endParaRPr lang="en-I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24034" y="1500174"/>
            <a:ext cx="8286808" cy="4929222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can be categorized into three types:-</a:t>
            </a:r>
          </a:p>
          <a:p>
            <a:pPr algn="just">
              <a:buNone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	Built in Functions.</a:t>
            </a:r>
          </a:p>
          <a:p>
            <a:pPr>
              <a:buNone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	Modules.</a:t>
            </a:r>
          </a:p>
          <a:p>
            <a:pPr>
              <a:buNone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	User  - defined functions.</a:t>
            </a: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None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8766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595538" y="285728"/>
            <a:ext cx="7500990" cy="642942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</a:t>
            </a:r>
            <a:endParaRPr lang="en-I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24166" y="1500174"/>
            <a:ext cx="7286676" cy="4929222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None/>
            </a:pP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524100" y="2357430"/>
            <a:ext cx="7929618" cy="4214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	These are predefined function in python and are used as and when there is need by simply calling them. For example: </a:t>
            </a:r>
            <a:b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		</a:t>
            </a:r>
          </a:p>
          <a:p>
            <a:pPr>
              <a:spcBef>
                <a:spcPct val="0"/>
              </a:spcBef>
              <a:defRPr/>
            </a:pP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		</a:t>
            </a:r>
            <a:r>
              <a:rPr lang="en-I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int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()</a:t>
            </a:r>
            <a:b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		float()</a:t>
            </a:r>
            <a:b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		</a:t>
            </a:r>
            <a:r>
              <a:rPr lang="en-I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str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()</a:t>
            </a:r>
            <a:b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		min()</a:t>
            </a:r>
            <a:b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		max() ...etc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667108" y="1285860"/>
            <a:ext cx="5400668" cy="50006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		BUILT IN FUNCTIONS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046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81290" y="285728"/>
            <a:ext cx="6786610" cy="785818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FUNCTIONS</a:t>
            </a:r>
            <a:endParaRPr lang="en-I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24166" y="1500174"/>
            <a:ext cx="7286676" cy="4929222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None/>
            </a:pP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381224" y="2928934"/>
            <a:ext cx="7572428" cy="2286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just">
              <a:spcBef>
                <a:spcPct val="0"/>
              </a:spcBef>
            </a:pP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	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Module is a container of functions, variables, constants, class in a separate file which can be reused.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167174" y="1285860"/>
            <a:ext cx="4757726" cy="5715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I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</a:t>
            </a: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MODULES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445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738546" y="2428868"/>
            <a:ext cx="6357982" cy="2071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I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	Import statement</a:t>
            </a:r>
            <a:b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ii)	from statement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881290" y="571480"/>
            <a:ext cx="7358114" cy="64294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IMPORTING MODULES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026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2309786" y="428604"/>
            <a:ext cx="8143932" cy="64294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IMPORTING MODULES – import STATEMENT</a:t>
            </a:r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809852" y="1785926"/>
            <a:ext cx="7572428" cy="4214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IN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)	import statement : used to import entire module.</a:t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/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Syntax:       import   </a:t>
            </a:r>
            <a:r>
              <a:rPr lang="en-IN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modulename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/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/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example: import math</a:t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/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485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2524100" y="428604"/>
            <a:ext cx="7929618" cy="64294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IMPORTING MODULES – import STATEMENT</a:t>
            </a:r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809852" y="1785926"/>
            <a:ext cx="7572428" cy="4214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ii)	from: import all functions or selected one.</a:t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       </a:t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module name import function name</a:t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example: </a:t>
            </a:r>
            <a:b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random import </a:t>
            </a:r>
            <a:r>
              <a:rPr lang="en-IN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randint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99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952728" y="500042"/>
            <a:ext cx="7215238" cy="64294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 USER DEFINED FUNCIONS</a:t>
            </a:r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809852" y="1500174"/>
            <a:ext cx="7500990" cy="4643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algn="just">
              <a:spcBef>
                <a:spcPct val="0"/>
              </a:spcBef>
              <a:defRPr/>
            </a:pP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	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Function is a set of statements that performs specific task.</a:t>
            </a:r>
          </a:p>
          <a:p>
            <a:pPr algn="just">
              <a:spcBef>
                <a:spcPct val="0"/>
              </a:spcBef>
              <a:defRPr/>
            </a:pP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/>
            </a:r>
            <a:b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</a:b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/>
            </a:r>
            <a:b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</a:b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Syntax of user defined function</a:t>
            </a:r>
          </a:p>
          <a:p>
            <a:pPr algn="just">
              <a:spcBef>
                <a:spcPct val="0"/>
              </a:spcBef>
              <a:defRPr/>
            </a:pP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 </a:t>
            </a:r>
            <a:b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</a:b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/>
            </a:r>
            <a:b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</a:b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def </a:t>
            </a:r>
            <a:r>
              <a:rPr lang="en-IN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function_name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(list of parameters)</a:t>
            </a:r>
            <a:b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</a:b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        ................</a:t>
            </a:r>
            <a:b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</a:b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        ................</a:t>
            </a:r>
            <a:b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</a:b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  <a:cs typeface="+mj-cs"/>
              </a:rPr>
              <a:t>        Statements</a:t>
            </a:r>
            <a:endParaRPr lang="en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6" name="Bent Arrow 5"/>
          <p:cNvSpPr/>
          <p:nvPr/>
        </p:nvSpPr>
        <p:spPr>
          <a:xfrm rot="5400000" flipH="1" flipV="1">
            <a:off x="4631521" y="3321843"/>
            <a:ext cx="1285884" cy="4786346"/>
          </a:xfrm>
          <a:prstGeom prst="bentArrow">
            <a:avLst>
              <a:gd name="adj1" fmla="val 4444"/>
              <a:gd name="adj2" fmla="val 13757"/>
              <a:gd name="adj3" fmla="val 25000"/>
              <a:gd name="adj4" fmla="val 4375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53322" y="5786454"/>
            <a:ext cx="2714644" cy="857256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 is keyword</a:t>
            </a:r>
            <a:endParaRPr lang="en-IN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9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Defining and Calling a Function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Function name should be descriptive of the task carried out by the function</a:t>
            </a:r>
          </a:p>
          <a:p>
            <a:pPr lvl="1" eaLnBrk="1" hangingPunct="1">
              <a:defRPr/>
            </a:pPr>
            <a:r>
              <a:rPr lang="en-US" altLang="en-US" dirty="0"/>
              <a:t>Often includes a verb</a:t>
            </a:r>
          </a:p>
          <a:p>
            <a:pPr eaLnBrk="1" hangingPunct="1">
              <a:defRPr/>
            </a:pPr>
            <a:r>
              <a:rPr lang="en-US" altLang="en-US" u="sng" dirty="0"/>
              <a:t>Function definition</a:t>
            </a:r>
            <a:r>
              <a:rPr lang="en-US" altLang="en-US" dirty="0"/>
              <a:t>: specifies what function does</a:t>
            </a:r>
          </a:p>
          <a:p>
            <a:pPr marL="457200" lvl="1" indent="0">
              <a:buNone/>
              <a:defRPr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i="1" dirty="0" err="1">
                <a:latin typeface="Courier New" pitchFamily="49" charset="0"/>
                <a:cs typeface="Courier New" pitchFamily="49" charset="0"/>
              </a:rPr>
              <a:t>function_name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():</a:t>
            </a:r>
          </a:p>
          <a:p>
            <a:pPr lvl="2" eaLnBrk="1" hangingPunct="1">
              <a:buFontTx/>
              <a:buNone/>
              <a:defRPr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		statement</a:t>
            </a:r>
          </a:p>
          <a:p>
            <a:pPr lvl="2" eaLnBrk="1" hangingPunct="1">
              <a:buFontTx/>
              <a:buNone/>
              <a:defRPr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		statement</a:t>
            </a:r>
            <a:endParaRPr lang="en-US" altLang="en-US" dirty="0"/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253447" y="4140631"/>
            <a:ext cx="6193971" cy="17492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i="1" u="sng" dirty="0" smtClean="0">
                <a:cs typeface="Courier New" pitchFamily="49" charset="0"/>
              </a:rPr>
              <a:t>Function header</a:t>
            </a:r>
            <a:r>
              <a:rPr lang="en-US" sz="2000" i="1" dirty="0" smtClean="0">
                <a:cs typeface="Courier New" pitchFamily="49" charset="0"/>
              </a:rPr>
              <a:t>: first line of function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i="1" dirty="0" smtClean="0">
                <a:cs typeface="Courier New" pitchFamily="49" charset="0"/>
              </a:rPr>
              <a:t>Includes keyword </a:t>
            </a:r>
            <a:r>
              <a:rPr lang="en-US" sz="1800" i="1" dirty="0" err="1" smtClean="0"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1800" i="1" dirty="0" smtClean="0">
                <a:cs typeface="Courier New" pitchFamily="49" charset="0"/>
              </a:rPr>
              <a:t> and function name, followed by parentheses and colon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sz="1800" i="1" dirty="0" smtClean="0">
              <a:cs typeface="Courier New" pitchFamily="49" charset="0"/>
            </a:endParaRPr>
          </a:p>
          <a:p>
            <a:pPr>
              <a:defRPr/>
            </a:pPr>
            <a:r>
              <a:rPr lang="en-US" sz="2000" i="1" u="sng" dirty="0" smtClean="0">
                <a:cs typeface="Courier New" pitchFamily="49" charset="0"/>
              </a:rPr>
              <a:t>Block</a:t>
            </a:r>
            <a:r>
              <a:rPr lang="en-US" sz="2000" i="1" dirty="0" smtClean="0">
                <a:cs typeface="Courier New" pitchFamily="49" charset="0"/>
              </a:rPr>
              <a:t>: set of statements that belong together as a group</a:t>
            </a: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i="1" dirty="0" smtClean="0">
                <a:cs typeface="Courier New" pitchFamily="49" charset="0"/>
              </a:rPr>
              <a:t>Example: the statements included in a function</a:t>
            </a:r>
            <a:endParaRPr lang="he-IL" sz="1800" i="1" dirty="0" smtClean="0">
              <a:cs typeface="Courier New" pitchFamily="49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583312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Defining and Calling a Function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Call a function to execute it</a:t>
            </a:r>
          </a:p>
          <a:p>
            <a:pPr lvl="1" eaLnBrk="1" hangingPunct="1">
              <a:defRPr/>
            </a:pPr>
            <a:r>
              <a:rPr lang="en-US" altLang="en-US" dirty="0"/>
              <a:t>When a function is called:</a:t>
            </a:r>
          </a:p>
          <a:p>
            <a:pPr lvl="2" eaLnBrk="1" hangingPunct="1">
              <a:defRPr/>
            </a:pPr>
            <a:r>
              <a:rPr lang="en-US" altLang="en-US" dirty="0"/>
              <a:t>Interpreter jumps to the function and executes statements in the block</a:t>
            </a:r>
          </a:p>
          <a:p>
            <a:pPr lvl="2" eaLnBrk="1" hangingPunct="1">
              <a:defRPr/>
            </a:pPr>
            <a:r>
              <a:rPr lang="en-US" altLang="en-US" dirty="0"/>
              <a:t>Interpreter jumps back to part of program that called the function</a:t>
            </a:r>
          </a:p>
          <a:p>
            <a:pPr lvl="3" eaLnBrk="1" hangingPunct="1">
              <a:defRPr/>
            </a:pPr>
            <a:r>
              <a:rPr lang="en-US" altLang="en-US" dirty="0"/>
              <a:t>Known as function return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726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179</Words>
  <Application>Microsoft Office PowerPoint</Application>
  <PresentationFormat>Widescreen</PresentationFormat>
  <Paragraphs>56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Theme</vt:lpstr>
      <vt:lpstr> WORKING WITH FUNCTIONS</vt:lpstr>
      <vt:lpstr>What is Function?</vt:lpstr>
      <vt:lpstr>What is Function?</vt:lpstr>
      <vt:lpstr>PowerPoint Presentation</vt:lpstr>
      <vt:lpstr>TYPES OF FUNCTIONS</vt:lpstr>
      <vt:lpstr>TYPES OF FUNCTIONS</vt:lpstr>
      <vt:lpstr>TYPES OF FUNCTIONS</vt:lpstr>
      <vt:lpstr>TYPES OF FUNCTIONS</vt:lpstr>
      <vt:lpstr>PowerPoint Presentation</vt:lpstr>
      <vt:lpstr>PowerPoint Presentation</vt:lpstr>
      <vt:lpstr>PowerPoint Presentation</vt:lpstr>
      <vt:lpstr>PowerPoint Presentation</vt:lpstr>
      <vt:lpstr>Defining and Calling a Function (cont’d.)</vt:lpstr>
      <vt:lpstr>Defining and Calling a Function (cont’d.)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WORKING WITH FUNCTIONS</dc:title>
  <dc:creator>Microsoft account</dc:creator>
  <cp:lastModifiedBy>Microsoft account</cp:lastModifiedBy>
  <cp:revision>3</cp:revision>
  <dcterms:created xsi:type="dcterms:W3CDTF">2025-10-08T06:25:50Z</dcterms:created>
  <dcterms:modified xsi:type="dcterms:W3CDTF">2025-10-08T06:44:36Z</dcterms:modified>
</cp:coreProperties>
</file>